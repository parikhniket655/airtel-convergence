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9"/>
  </p:notesMasterIdLst>
  <p:sldIdLst>
    <p:sldId id="256" r:id="rId2"/>
    <p:sldId id="257" r:id="rId3"/>
    <p:sldId id="260" r:id="rId5"/>
    <p:sldId id="261" r:id="rId6"/>
    <p:sldId id="262" r:id="rId7"/>
    <p:sldId id="263" r:id="rId8"/>
    <p:sldId id="264" r:id="rId14"/>
    <p:sldId id="265" r:id="rId15"/>
    <p:sldId id="266" r:id="rId16"/>
    <p:sldId id="267" r:id="rId17"/>
    <p:sldId id="268" r:id="rId18"/>
    <p:sldId id="269" r:id="rId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1"/>
  </p:normalViewPr>
  <p:slideViewPr>
    <p:cSldViewPr snapToGrid="0">
      <p:cViewPr varScale="1">
        <p:scale>
          <a:sx n="139" d="100"/>
          <a:sy n="139" d="100"/>
        </p:scale>
        <p:origin x="864" y="16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1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f2dfdaf518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f2dfdaf518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Submission Template-01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22025" y="-11025"/>
            <a:ext cx="9176376" cy="5154524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TextBox 54"/>
          <p:cNvSpPr txBox="1"/>
          <p:nvPr/>
        </p:nvSpPr>
        <p:spPr>
          <a:xfrm>
            <a:off x="731520" y="1463040"/>
            <a:ext cx="7680960" cy="13716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400"/>
              </a:spcAft>
              <a:defRPr sz="3200" b="1">
                <a:solidFill>
                  <a:srgbClr val="ED1D24"/>
                </a:solidFill>
                <a:latin typeface="Calibri"/>
              </a:defRPr>
            </a:pPr>
            <a:r>
              <a:t>ALTURA COMMUNICATIONS</a:t>
            </a:r>
          </a:p>
          <a:p>
            <a:pPr>
              <a:defRPr sz="2400" b="1">
                <a:solidFill>
                  <a:srgbClr val="0F121C"/>
                </a:solidFill>
                <a:latin typeface="Calibri"/>
              </a:defRPr>
            </a:pPr>
            <a:r>
              <a:t>Connected Household Convergence Strategy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1520" y="2926080"/>
            <a:ext cx="76809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1200" b="0">
                <a:solidFill>
                  <a:srgbClr val="212121"/>
                </a:solidFill>
                <a:latin typeface="Arial"/>
              </a:defRPr>
            </a:pPr>
            <a:r>
              <a:t>Maximizing Share of Wallet through Inbound Digital Platforms, Habit-Forming Bundle Pricing, Google One Storage, Autopay Incentives, and AI/ML Targeting.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3931920"/>
            <a:ext cx="7680960" cy="731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1000" b="1">
                <a:solidFill>
                  <a:srgbClr val="0F121C"/>
                </a:solidFill>
                <a:latin typeface="Arial"/>
              </a:defRPr>
            </a:pPr>
            <a:r>
              <a:t>Case Competition Submission | 2026 Strategy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14" title="Submission Template-02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TextBox 59"/>
          <p:cNvSpPr txBox="1"/>
          <p:nvPr/>
        </p:nvSpPr>
        <p:spPr>
          <a:xfrm>
            <a:off x="1097280" y="164592"/>
            <a:ext cx="6858000" cy="41148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2400" b="1">
                <a:solidFill>
                  <a:srgbClr val="0F121C"/>
                </a:solidFill>
                <a:latin typeface="Calibri"/>
              </a:defRPr>
            </a:pPr>
            <a:r>
              <a:t>Diagnosing the Convergence Gap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97280" y="548640"/>
            <a:ext cx="6858000" cy="2743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defRPr sz="850" b="0">
                <a:solidFill>
                  <a:srgbClr val="ED1D24"/>
                </a:solidFill>
                <a:latin typeface="Arial"/>
              </a:defRPr>
            </a:pPr>
            <a:r>
              <a:t>Market, product portfolio, consumer psychology and competitive position - why Altura's households aren't consolidating, and what defends the business meanwhile.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9728" y="1051560"/>
            <a:ext cx="28803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82880" y="1124712"/>
            <a:ext cx="164592" cy="164592"/>
          </a:xfrm>
          <a:prstGeom prst="rect">
            <a:avLst/>
          </a:prstGeom>
          <a:solidFill>
            <a:srgbClr val="ED1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2336" y="1097280"/>
            <a:ext cx="2514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ED1D24"/>
                </a:solidFill>
                <a:latin typeface="Calibri"/>
              </a:defRPr>
            </a:pPr>
            <a:r>
              <a:t>Market Landscape &amp; Wallet Opportunity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2336" y="1271016"/>
            <a:ext cx="25146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750" b="0" i="1">
                <a:solidFill>
                  <a:srgbClr val="787878"/>
                </a:solidFill>
                <a:latin typeface="Arial"/>
              </a:defRPr>
            </a:pPr>
            <a:r>
              <a:t>Where category growth and captured wallet share diverge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1453896"/>
            <a:ext cx="273405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50"/>
              </a:spcAft>
              <a:defRPr sz="680" b="0">
                <a:solidFill>
                  <a:srgbClr val="212121"/>
                </a:solidFill>
                <a:latin typeface="Arial"/>
              </a:defRPr>
            </a:pPr>
            <a:r>
              <a:t>• India: ₹2.83L per-capita disposable income, 430M 5G subscribers, ~1B data users; industry mobility ARPU ₹194.57</a:t>
            </a:r>
          </a:p>
          <a:p>
            <a:pPr>
              <a:spcAft>
                <a:spcPts val="250"/>
              </a:spcAft>
              <a:defRPr sz="680" b="0">
                <a:solidFill>
                  <a:srgbClr val="212121"/>
                </a:solidFill>
                <a:latin typeface="Arial"/>
              </a:defRPr>
            </a:pPr>
            <a:r>
              <a:t>• Altura already leads the industry on ARPU (+₹40 vs. nearest rival) - but prepaid mobility growth is flat and pricing is capped</a:t>
            </a:r>
          </a:p>
          <a:p>
            <a:pPr>
              <a:spcAft>
                <a:spcPts val="250"/>
              </a:spcAft>
              <a:defRPr sz="680" b="0">
                <a:solidFill>
                  <a:srgbClr val="212121"/>
                </a:solidFill>
                <a:latin typeface="Arial"/>
              </a:defRPr>
            </a:pPr>
            <a:r>
              <a:t>• Computed CAGR, FY24–27: Broadband +22%, Surveillance +36%, DTH -2% - fastest-growing lines are where Altura's wallet share is lowest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82880" y="2295144"/>
            <a:ext cx="777240" cy="109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620" b="0">
                <a:solidFill>
                  <a:srgbClr val="212121"/>
                </a:solidFill>
                <a:latin typeface="Arial"/>
              </a:defRPr>
            </a:pPr>
            <a:r>
              <a:t>Connectivity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05840" y="2322576"/>
            <a:ext cx="1371600" cy="457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05840" y="2322576"/>
            <a:ext cx="480059" cy="45720"/>
          </a:xfrm>
          <a:prstGeom prst="rect">
            <a:avLst/>
          </a:prstGeom>
          <a:solidFill>
            <a:srgbClr val="ED1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414016" y="2295144"/>
            <a:ext cx="365760" cy="109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620" b="1">
                <a:solidFill>
                  <a:srgbClr val="212121"/>
                </a:solidFill>
                <a:latin typeface="Arial"/>
              </a:defRPr>
            </a:pPr>
            <a:r>
              <a:t>35%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82880" y="2404872"/>
            <a:ext cx="777240" cy="109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620" b="0">
                <a:solidFill>
                  <a:srgbClr val="212121"/>
                </a:solidFill>
                <a:latin typeface="Arial"/>
              </a:defRPr>
            </a:pPr>
            <a:r>
              <a:t>Entertainment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05840" y="2432304"/>
            <a:ext cx="1371600" cy="457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05840" y="2432304"/>
            <a:ext cx="164592" cy="45720"/>
          </a:xfrm>
          <a:prstGeom prst="rect">
            <a:avLst/>
          </a:prstGeom>
          <a:solidFill>
            <a:srgbClr val="ED1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14016" y="2404872"/>
            <a:ext cx="365760" cy="109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620" b="1">
                <a:solidFill>
                  <a:srgbClr val="212121"/>
                </a:solidFill>
                <a:latin typeface="Arial"/>
              </a:defRPr>
            </a:pPr>
            <a:r>
              <a:t>12%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" y="2514600"/>
            <a:ext cx="777240" cy="109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620" b="0">
                <a:solidFill>
                  <a:srgbClr val="212121"/>
                </a:solidFill>
                <a:latin typeface="Arial"/>
              </a:defRPr>
            </a:pPr>
            <a:r>
              <a:t>Home Security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05840" y="2542032"/>
            <a:ext cx="1371600" cy="457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05840" y="2542032"/>
            <a:ext cx="27432" cy="45720"/>
          </a:xfrm>
          <a:prstGeom prst="rect">
            <a:avLst/>
          </a:prstGeom>
          <a:solidFill>
            <a:srgbClr val="ED1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414016" y="2514600"/>
            <a:ext cx="365760" cy="109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620" b="1">
                <a:solidFill>
                  <a:srgbClr val="212121"/>
                </a:solidFill>
                <a:latin typeface="Arial"/>
              </a:defRPr>
            </a:pPr>
            <a:r>
              <a:t>2%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2880" y="2624328"/>
            <a:ext cx="777240" cy="109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620" b="0">
                <a:solidFill>
                  <a:srgbClr val="212121"/>
                </a:solidFill>
                <a:latin typeface="Arial"/>
              </a:defRPr>
            </a:pPr>
            <a:r>
              <a:t>Emerging Digital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05840" y="2651760"/>
            <a:ext cx="1371600" cy="457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414016" y="2624328"/>
            <a:ext cx="365760" cy="109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620" b="1">
                <a:solidFill>
                  <a:srgbClr val="212121"/>
                </a:solidFill>
                <a:latin typeface="Arial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82880" y="2715768"/>
            <a:ext cx="2734056" cy="109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550" b="0" i="1">
                <a:solidFill>
                  <a:srgbClr val="787878"/>
                </a:solidFill>
                <a:latin typeface="Arial"/>
              </a:defRPr>
            </a:pPr>
            <a:r>
              <a:t>Src: Case intro; Exhibits 2 &amp; 3, CAGR computed FY24–27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090672" y="1051560"/>
            <a:ext cx="28803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163824" y="1124712"/>
            <a:ext cx="164592" cy="164592"/>
          </a:xfrm>
          <a:prstGeom prst="rect">
            <a:avLst/>
          </a:prstGeom>
          <a:solidFill>
            <a:srgbClr val="ED1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383280" y="1097280"/>
            <a:ext cx="2514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ED1D24"/>
                </a:solidFill>
                <a:latin typeface="Calibri"/>
              </a:defRPr>
            </a:pPr>
            <a:r>
              <a:t>Product Portfolio Today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83280" y="1271016"/>
            <a:ext cx="25146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750" b="0" i="1">
                <a:solidFill>
                  <a:srgbClr val="787878"/>
                </a:solidFill>
                <a:latin typeface="Arial"/>
              </a:defRPr>
            </a:pPr>
            <a:r>
              <a:t>Five live product lines, sold and run in isolation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136392" y="1435608"/>
            <a:ext cx="530352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300" b="0">
                <a:solidFill>
                  <a:srgbClr val="ED1D24"/>
                </a:solidFill>
                <a:latin typeface="Arial"/>
              </a:defRPr>
            </a:pPr>
            <a:r>
              <a:t>📞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36392" y="1655064"/>
            <a:ext cx="530352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550" b="1">
                <a:solidFill>
                  <a:srgbClr val="212121"/>
                </a:solidFill>
                <a:latin typeface="Arial"/>
              </a:defRPr>
            </a:pPr>
            <a:r>
              <a:t>Mobility</a:t>
            </a:r>
            <a:br/>
            <a:r>
              <a:t>(prepaid +</a:t>
            </a:r>
            <a:br/>
            <a:r>
              <a:t>postpaid)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85032" y="1435608"/>
            <a:ext cx="530352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300" b="0">
                <a:solidFill>
                  <a:srgbClr val="ED1D24"/>
                </a:solidFill>
                <a:latin typeface="Arial"/>
              </a:defRPr>
            </a:pPr>
            <a:r>
              <a:t>📶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685032" y="1655064"/>
            <a:ext cx="530352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550" b="1">
                <a:solidFill>
                  <a:srgbClr val="212121"/>
                </a:solidFill>
                <a:latin typeface="Arial"/>
              </a:defRPr>
            </a:pPr>
            <a:r>
              <a:t>Broadband /</a:t>
            </a:r>
            <a:br/>
            <a:r>
              <a:t>WiFi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33672" y="1435608"/>
            <a:ext cx="530352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300" b="0">
                <a:solidFill>
                  <a:srgbClr val="ED1D24"/>
                </a:solidFill>
                <a:latin typeface="Arial"/>
              </a:defRPr>
            </a:pPr>
            <a:r>
              <a:t>📺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33672" y="1655064"/>
            <a:ext cx="530352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550" b="1">
                <a:solidFill>
                  <a:srgbClr val="212121"/>
                </a:solidFill>
                <a:latin typeface="Arial"/>
              </a:defRPr>
            </a:pPr>
            <a:r>
              <a:t>OTT +</a:t>
            </a:r>
            <a:br/>
            <a:r>
              <a:t>TV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82311" y="1435608"/>
            <a:ext cx="530352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300" b="0">
                <a:solidFill>
                  <a:srgbClr val="ED1D24"/>
                </a:solidFill>
                <a:latin typeface="Arial"/>
              </a:defRPr>
            </a:pPr>
            <a:r>
              <a:t>🛡️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782311" y="1655064"/>
            <a:ext cx="530352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550" b="1">
                <a:solidFill>
                  <a:srgbClr val="212121"/>
                </a:solidFill>
                <a:latin typeface="Arial"/>
              </a:defRPr>
            </a:pPr>
            <a:r>
              <a:t>Home</a:t>
            </a:r>
            <a:br/>
            <a:r>
              <a:t>Security</a:t>
            </a:r>
            <a:br/>
            <a:r>
              <a:t>(Xsafe)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330951" y="1435608"/>
            <a:ext cx="530352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300" b="0">
                <a:solidFill>
                  <a:srgbClr val="ED1D24"/>
                </a:solidFill>
                <a:latin typeface="Arial"/>
              </a:defRPr>
            </a:pPr>
            <a:r>
              <a:t>🏦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330951" y="1655064"/>
            <a:ext cx="530352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550" b="1">
                <a:solidFill>
                  <a:srgbClr val="212121"/>
                </a:solidFill>
                <a:latin typeface="Arial"/>
              </a:defRPr>
            </a:pPr>
            <a:r>
              <a:t>Payments</a:t>
            </a:r>
            <a:br/>
            <a:r>
              <a:t>Bank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163824" y="2011680"/>
            <a:ext cx="2734056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50"/>
              </a:spcAft>
              <a:defRPr sz="680" b="0">
                <a:solidFill>
                  <a:srgbClr val="212121"/>
                </a:solidFill>
                <a:latin typeface="Arial"/>
              </a:defRPr>
            </a:pPr>
            <a:r>
              <a:t>• Each runs as an independent silo: separate sales teams, separate onboarding, separate billing</a:t>
            </a:r>
          </a:p>
          <a:p>
            <a:pPr>
              <a:spcAft>
                <a:spcPts val="250"/>
              </a:spcAft>
              <a:defRPr sz="680" b="0">
                <a:solidFill>
                  <a:srgbClr val="212121"/>
                </a:solidFill>
                <a:latin typeface="Arial"/>
              </a:defRPr>
            </a:pPr>
            <a:r>
              <a:t>• Channels: DTC (high-value, postpaid, ₹449 entry) · Distributor (mass-market, prepaid, ₹349) · Payments Bank (₹99) - each sells one product, rarely cross-sells</a:t>
            </a:r>
          </a:p>
          <a:p>
            <a:pPr>
              <a:spcAft>
                <a:spcPts val="250"/>
              </a:spcAft>
              <a:defRPr sz="680" b="0">
                <a:solidFill>
                  <a:srgbClr val="212121"/>
                </a:solidFill>
                <a:latin typeface="Arial"/>
              </a:defRPr>
            </a:pPr>
            <a:r>
              <a:t>• Only a fraction of Altura's ~100M high-value households hold more than one product today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163824" y="2715768"/>
            <a:ext cx="2734056" cy="109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550" b="0" i="1">
                <a:solidFill>
                  <a:srgbClr val="787878"/>
                </a:solidFill>
                <a:latin typeface="Arial"/>
              </a:defRPr>
            </a:pPr>
            <a:r>
              <a:t>Src: Case Appendix 2, channel structure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071616" y="1051560"/>
            <a:ext cx="2962656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144768" y="1124712"/>
            <a:ext cx="164592" cy="164592"/>
          </a:xfrm>
          <a:prstGeom prst="rect">
            <a:avLst/>
          </a:prstGeom>
          <a:solidFill>
            <a:srgbClr val="ED1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64224" y="1097280"/>
            <a:ext cx="259689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ED1D24"/>
                </a:solidFill>
                <a:latin typeface="Calibri"/>
              </a:defRPr>
            </a:pPr>
            <a:r>
              <a:t>Competitive Landscape &amp; Altura's Moat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364224" y="1271016"/>
            <a:ext cx="2596896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750" b="0" i="1">
                <a:solidFill>
                  <a:srgbClr val="787878"/>
                </a:solidFill>
                <a:latin typeface="Arial"/>
              </a:defRPr>
            </a:pPr>
            <a:r>
              <a:t>Where Altura already wins, and what defends it</a:t>
            </a: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6126480" y="1435608"/>
          <a:ext cx="283464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548640"/>
                <a:gridCol w="640080"/>
                <a:gridCol w="640080"/>
              </a:tblGrid>
              <a:tr h="155448">
                <a:tc>
                  <a:txBody>
                    <a:bodyPr lIns="9144" rIns="9144" tIns="9144" bIns="9144"/>
                    <a:lstStyle/>
                    <a:p>
                      <a:pPr algn="l">
                        <a:defRPr sz="620" b="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9144" rIns="9144" tIns="9144" bIns="9144"/>
                    <a:lstStyle/>
                    <a:p>
                      <a:pPr algn="ctr">
                        <a:defRPr sz="620" b="1">
                          <a:solidFill>
                            <a:srgbClr val="0F121C"/>
                          </a:solidFill>
                          <a:latin typeface="Arial"/>
                        </a:defRPr>
                      </a:pPr>
                      <a:r>
                        <a:t>Altura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9144" rIns="9144" tIns="9144" bIns="9144"/>
                    <a:lstStyle/>
                    <a:p>
                      <a:pPr algn="ctr">
                        <a:defRPr sz="62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t>Scale Rival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9144" rIns="9144" tIns="9144" bIns="9144"/>
                    <a:lstStyle/>
                    <a:p>
                      <a:pPr algn="ctr">
                        <a:defRPr sz="62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t>Value Chall.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 lIns="9144" rIns="9144" tIns="9144" bIns="9144"/>
                    <a:lstStyle/>
                    <a:p>
                      <a:pPr algn="l">
                        <a:defRPr sz="650" b="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t>ARPU (₹)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9144" rIns="9144" tIns="9144" bIns="9144"/>
                    <a:lstStyle/>
                    <a:p>
                      <a:pPr algn="ctr">
                        <a:defRPr sz="650" b="1">
                          <a:solidFill>
                            <a:srgbClr val="ED1D24"/>
                          </a:solidFill>
                          <a:latin typeface="Arial"/>
                        </a:defRPr>
                      </a:pPr>
                      <a:r>
                        <a:t>257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9144" rIns="9144" tIns="9144" bIns="9144"/>
                    <a:lstStyle/>
                    <a:p>
                      <a:pPr algn="ctr">
                        <a:defRPr sz="650" b="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t>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9144" rIns="9144" tIns="9144" bIns="9144"/>
                    <a:lstStyle/>
                    <a:p>
                      <a:pPr algn="ctr">
                        <a:defRPr sz="650" b="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 lIns="9144" rIns="9144" tIns="9144" bIns="9144"/>
                    <a:lstStyle/>
                    <a:p>
                      <a:pPr algn="l">
                        <a:defRPr sz="650" b="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t>Subscribers (Mn)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9144" rIns="9144" tIns="9144" bIns="9144"/>
                    <a:lstStyle/>
                    <a:p>
                      <a:pPr algn="ctr">
                        <a:defRPr sz="650" b="1">
                          <a:solidFill>
                            <a:srgbClr val="ED1D24"/>
                          </a:solidFill>
                          <a:latin typeface="Arial"/>
                        </a:defRPr>
                      </a:pPr>
                      <a:r>
                        <a:t>373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9144" rIns="9144" tIns="9144" bIns="9144"/>
                    <a:lstStyle/>
                    <a:p>
                      <a:pPr algn="ctr">
                        <a:defRPr sz="650" b="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t>524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9144" rIns="9144" tIns="9144" bIns="9144"/>
                    <a:lstStyle/>
                    <a:p>
                      <a:pPr algn="ctr">
                        <a:defRPr sz="650" b="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t>198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 lIns="9144" rIns="9144" tIns="9144" bIns="9144"/>
                    <a:lstStyle/>
                    <a:p>
                      <a:pPr algn="l">
                        <a:defRPr sz="650" b="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t>Monthly churn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9144" rIns="9144" tIns="9144" bIns="9144"/>
                    <a:lstStyle/>
                    <a:p>
                      <a:pPr algn="ctr">
                        <a:defRPr sz="650" b="1">
                          <a:solidFill>
                            <a:srgbClr val="ED1D24"/>
                          </a:solidFill>
                          <a:latin typeface="Arial"/>
                        </a:defRPr>
                      </a:pPr>
                      <a:r>
                        <a:t>~2%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9144" rIns="9144" tIns="9144" bIns="9144"/>
                    <a:lstStyle/>
                    <a:p>
                      <a:pPr algn="ctr">
                        <a:defRPr sz="650" b="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t>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9144" rIns="9144" tIns="9144" bIns="9144"/>
                    <a:lstStyle/>
                    <a:p>
                      <a:pPr algn="ctr">
                        <a:defRPr sz="650" b="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t>~4%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4" name="Rounded Rectangle 103"/>
          <p:cNvSpPr/>
          <p:nvPr/>
        </p:nvSpPr>
        <p:spPr>
          <a:xfrm>
            <a:off x="6144768" y="2103120"/>
            <a:ext cx="2816352" cy="585216"/>
          </a:xfrm>
          <a:prstGeom prst="roundRect">
            <a:avLst/>
          </a:prstGeom>
          <a:solidFill>
            <a:srgbClr val="FE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73152" tIns="36576" bIns="36576"/>
          <a:lstStyle/>
          <a:p>
            <a:pPr algn="ctr">
              <a:defRPr sz="600" b="0">
                <a:solidFill>
                  <a:srgbClr val="212121"/>
                </a:solidFill>
                <a:latin typeface="Arial"/>
              </a:defRPr>
            </a:pPr>
            <a:r>
              <a:t>The Moat: not price - it's highest ARPU + a live multi-service footprint (mobility, broadband, DTH, security, banking) + an existing field-force relationship in millions of homes. Convergence turns that footprint into switching cost.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181344" y="2221992"/>
            <a:ext cx="219456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0">
                <a:solidFill>
                  <a:srgbClr val="ED1D24"/>
                </a:solidFill>
                <a:latin typeface="Arial"/>
              </a:defRPr>
            </a:pPr>
            <a:r>
              <a:t>🛡️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144768" y="2715768"/>
            <a:ext cx="2816352" cy="109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550" b="0" i="1">
                <a:solidFill>
                  <a:srgbClr val="787878"/>
                </a:solidFill>
                <a:latin typeface="Arial"/>
              </a:defRPr>
            </a:pPr>
            <a:r>
              <a:t>Src: Competitive Benchmark, Q4 FY26 disclosures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109728" y="2944368"/>
            <a:ext cx="2880360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82880" y="3017520"/>
            <a:ext cx="164592" cy="164592"/>
          </a:xfrm>
          <a:prstGeom prst="rect">
            <a:avLst/>
          </a:prstGeom>
          <a:solidFill>
            <a:srgbClr val="ED1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02336" y="2990088"/>
            <a:ext cx="2514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ED1D24"/>
                </a:solidFill>
                <a:latin typeface="Calibri"/>
              </a:defRPr>
            </a:pPr>
            <a:r>
              <a:t>Core Problems I: Structural Barriers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02336" y="3163824"/>
            <a:ext cx="25146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750" b="0" i="1">
                <a:solidFill>
                  <a:srgbClr val="787878"/>
                </a:solidFill>
                <a:latin typeface="Arial"/>
              </a:defRPr>
            </a:pPr>
            <a:r>
              <a:t>From secondary research - what the case data shows is broken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82880" y="3328416"/>
            <a:ext cx="2734056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50"/>
              </a:spcAft>
              <a:defRPr sz="650" b="1">
                <a:solidFill>
                  <a:srgbClr val="ED1D24"/>
                </a:solidFill>
                <a:latin typeface="Arial"/>
              </a:defRPr>
            </a:pPr>
            <a:r>
              <a:t>📉 ① </a:t>
            </a:r>
            <a:r>
              <a:rPr sz="650" b="1">
                <a:solidFill>
                  <a:srgbClr val="212121"/>
                </a:solidFill>
                <a:latin typeface="Arial"/>
              </a:rPr>
              <a:t>Saturated prepaid mobility -</a:t>
            </a:r>
            <a:r>
              <a:rPr sz="650" b="0">
                <a:solidFill>
                  <a:srgbClr val="212121"/>
                </a:solidFill>
                <a:latin typeface="Arial"/>
              </a:rPr>
              <a:t> Flat subscriber growth, pricing power constrained</a:t>
            </a:r>
          </a:p>
          <a:p>
            <a:pPr>
              <a:spcAft>
                <a:spcPts val="250"/>
              </a:spcAft>
              <a:defRPr sz="650" b="1">
                <a:solidFill>
                  <a:srgbClr val="ED1D24"/>
                </a:solidFill>
                <a:latin typeface="Arial"/>
              </a:defRPr>
            </a:pPr>
            <a:r>
              <a:t>👥 ② </a:t>
            </a:r>
            <a:r>
              <a:rPr sz="650" b="1">
                <a:solidFill>
                  <a:srgbClr val="212121"/>
                </a:solidFill>
                <a:latin typeface="Arial"/>
              </a:rPr>
              <a:t>Independent product silos -</a:t>
            </a:r>
            <a:r>
              <a:rPr sz="650" b="0">
                <a:solidFill>
                  <a:srgbClr val="212121"/>
                </a:solidFill>
                <a:latin typeface="Arial"/>
              </a:rPr>
              <a:t> Disjointed onboarding, missed cross-sell</a:t>
            </a:r>
          </a:p>
          <a:p>
            <a:pPr>
              <a:spcAft>
                <a:spcPts val="250"/>
              </a:spcAft>
              <a:defRPr sz="650" b="1">
                <a:solidFill>
                  <a:srgbClr val="ED1D24"/>
                </a:solidFill>
                <a:latin typeface="Arial"/>
              </a:defRPr>
            </a:pPr>
            <a:r>
              <a:t>🔄 ③ </a:t>
            </a:r>
            <a:r>
              <a:rPr sz="650" b="1">
                <a:solidFill>
                  <a:srgbClr val="212121"/>
                </a:solidFill>
                <a:latin typeface="Arial"/>
              </a:rPr>
              <a:t>Single-product churn drain -</a:t>
            </a:r>
            <a:r>
              <a:rPr sz="650" b="0">
                <a:solidFill>
                  <a:srgbClr val="212121"/>
                </a:solidFill>
                <a:latin typeface="Arial"/>
              </a:rPr>
              <a:t> 22% annual churn vs. 5% for 3+ bundled services</a:t>
            </a:r>
          </a:p>
          <a:p>
            <a:pPr>
              <a:spcAft>
                <a:spcPts val="250"/>
              </a:spcAft>
              <a:defRPr sz="650" b="1">
                <a:solidFill>
                  <a:srgbClr val="ED1D24"/>
                </a:solidFill>
                <a:latin typeface="Arial"/>
              </a:defRPr>
            </a:pPr>
            <a:r>
              <a:t>📺 ④ </a:t>
            </a:r>
            <a:r>
              <a:rPr sz="650" b="1">
                <a:solidFill>
                  <a:srgbClr val="212121"/>
                </a:solidFill>
                <a:latin typeface="Arial"/>
              </a:rPr>
              <a:t>DTH revenue contracting -</a:t>
            </a:r>
            <a:r>
              <a:rPr sz="650" b="0">
                <a:solidFill>
                  <a:srgbClr val="212121"/>
                </a:solidFill>
                <a:latin typeface="Arial"/>
              </a:rPr>
              <a:t> ₹2,520 Cr (FY20) → ₹2,350 Cr (FY24) as OTT grows</a:t>
            </a:r>
          </a:p>
          <a:p>
            <a:pPr>
              <a:spcAft>
                <a:spcPts val="250"/>
              </a:spcAft>
              <a:defRPr sz="650" b="1">
                <a:solidFill>
                  <a:srgbClr val="ED1D24"/>
                </a:solidFill>
                <a:latin typeface="Arial"/>
              </a:defRPr>
            </a:pPr>
            <a:r>
              <a:t>🔧 ⑤ </a:t>
            </a:r>
            <a:r>
              <a:rPr sz="650" b="1">
                <a:solidFill>
                  <a:srgbClr val="212121"/>
                </a:solidFill>
                <a:latin typeface="Arial"/>
              </a:rPr>
              <a:t>Field force under-used -</a:t>
            </a:r>
            <a:r>
              <a:rPr sz="650" b="0">
                <a:solidFill>
                  <a:srgbClr val="212121"/>
                </a:solidFill>
                <a:latin typeface="Arial"/>
              </a:rPr>
              <a:t> Lowest decay (12–25%) of any channel, no cross-sell mandate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2880" y="4517136"/>
            <a:ext cx="2734056" cy="109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550" b="0" i="1">
                <a:solidFill>
                  <a:srgbClr val="787878"/>
                </a:solidFill>
                <a:latin typeface="Arial"/>
              </a:defRPr>
            </a:pPr>
            <a:r>
              <a:t>Src: Case pp.2–3; Exhibits 1, 2, 4 &amp; 5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090672" y="2944368"/>
            <a:ext cx="2880360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163824" y="3017520"/>
            <a:ext cx="164592" cy="164592"/>
          </a:xfrm>
          <a:prstGeom prst="rect">
            <a:avLst/>
          </a:prstGeom>
          <a:solidFill>
            <a:srgbClr val="ED1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383280" y="2990088"/>
            <a:ext cx="2514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ED1D24"/>
                </a:solidFill>
                <a:latin typeface="Calibri"/>
              </a:defRPr>
            </a:pPr>
            <a:r>
              <a:t>Core Problems II: Psychological Barriers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383280" y="3163824"/>
            <a:ext cx="25146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750" b="0" i="1">
                <a:solidFill>
                  <a:srgbClr val="787878"/>
                </a:solidFill>
                <a:latin typeface="Arial"/>
              </a:defRPr>
            </a:pPr>
            <a:r>
              <a:t>From primary research - why households resist consolidating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163824" y="3328416"/>
            <a:ext cx="2734056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50"/>
              </a:spcAft>
              <a:defRPr sz="650" b="1">
                <a:solidFill>
                  <a:srgbClr val="ED1D24"/>
                </a:solidFill>
                <a:latin typeface="Arial"/>
              </a:defRPr>
            </a:pPr>
            <a:r>
              <a:t>⚠️ </a:t>
            </a:r>
            <a:r>
              <a:rPr sz="650" b="1">
                <a:solidFill>
                  <a:srgbClr val="212121"/>
                </a:solidFill>
                <a:latin typeface="Arial"/>
              </a:rPr>
              <a:t>SPOF anxiety:</a:t>
            </a:r>
            <a:r>
              <a:rPr sz="650" b="0">
                <a:solidFill>
                  <a:srgbClr val="212121"/>
                </a:solidFill>
                <a:latin typeface="Arial"/>
              </a:rPr>
              <a:t> 60%+ fear one outage kills fibre + mobile + TV together</a:t>
            </a:r>
          </a:p>
          <a:p>
            <a:pPr>
              <a:spcAft>
                <a:spcPts val="250"/>
              </a:spcAft>
              <a:defRPr sz="650" b="1">
                <a:solidFill>
                  <a:srgbClr val="ED1D24"/>
                </a:solidFill>
                <a:latin typeface="Arial"/>
              </a:defRPr>
            </a:pPr>
            <a:r>
              <a:t>📶 </a:t>
            </a:r>
            <a:r>
              <a:rPr sz="650" b="1">
                <a:solidFill>
                  <a:srgbClr val="212121"/>
                </a:solidFill>
                <a:latin typeface="Arial"/>
              </a:rPr>
              <a:t>Migration dread:</a:t>
            </a:r>
            <a:r>
              <a:rPr sz="650" b="0">
                <a:solidFill>
                  <a:srgbClr val="212121"/>
                </a:solidFill>
                <a:latin typeface="Arial"/>
              </a:rPr>
              <a:t> Porting SIMs, installing router/TV-box/cameras, coordinating setup dates</a:t>
            </a:r>
          </a:p>
          <a:p>
            <a:pPr>
              <a:spcAft>
                <a:spcPts val="250"/>
              </a:spcAft>
              <a:defRPr sz="650" b="1">
                <a:solidFill>
                  <a:srgbClr val="ED1D24"/>
                </a:solidFill>
                <a:latin typeface="Arial"/>
              </a:defRPr>
            </a:pPr>
            <a:r>
              <a:t>🪙 </a:t>
            </a:r>
            <a:r>
              <a:rPr sz="650" b="1">
                <a:solidFill>
                  <a:srgbClr val="212121"/>
                </a:solidFill>
                <a:latin typeface="Arial"/>
              </a:rPr>
              <a:t>Utility-arbitrage bias:</a:t>
            </a:r>
            <a:r>
              <a:rPr sz="650" b="0">
                <a:solidFill>
                  <a:srgbClr val="212121"/>
                </a:solidFill>
                <a:latin typeface="Arial"/>
              </a:rPr>
              <a:t> Belief that separate "cheap" services beat a bundle - ignoring hidden fees (₹2,006 standalone vs. ₹999 bundle promo)</a:t>
            </a:r>
          </a:p>
          <a:p>
            <a:pPr>
              <a:spcAft>
                <a:spcPts val="250"/>
              </a:spcAft>
              <a:defRPr sz="650" b="1">
                <a:solidFill>
                  <a:srgbClr val="ED1D24"/>
                </a:solidFill>
                <a:latin typeface="Arial"/>
              </a:defRPr>
            </a:pPr>
            <a:r>
              <a:t>📷 </a:t>
            </a:r>
            <a:r>
              <a:rPr sz="650" b="1">
                <a:solidFill>
                  <a:srgbClr val="212121"/>
                </a:solidFill>
                <a:latin typeface="Arial"/>
              </a:rPr>
              <a:t>Security-camera trust gap:</a:t>
            </a:r>
            <a:r>
              <a:rPr sz="650" b="0">
                <a:solidFill>
                  <a:srgbClr val="212121"/>
                </a:solidFill>
                <a:latin typeface="Arial"/>
              </a:rPr>
              <a:t> Only 2% wallet share - no confidence in unbranded CCTV cloud backup or apps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63824" y="4517136"/>
            <a:ext cx="2734056" cy="109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550" b="0" i="1">
                <a:solidFill>
                  <a:srgbClr val="787878"/>
                </a:solidFill>
                <a:latin typeface="Arial"/>
              </a:defRPr>
            </a:pPr>
            <a:r>
              <a:t>Src: Primary consumer survey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071616" y="2944368"/>
            <a:ext cx="2962656" cy="1700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144768" y="3017520"/>
            <a:ext cx="164592" cy="164592"/>
          </a:xfrm>
          <a:prstGeom prst="rect">
            <a:avLst/>
          </a:prstGeom>
          <a:solidFill>
            <a:srgbClr val="ED1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364224" y="2990088"/>
            <a:ext cx="259689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ED1D24"/>
                </a:solidFill>
                <a:latin typeface="Calibri"/>
              </a:defRPr>
            </a:pPr>
            <a:r>
              <a:t>Personas &amp; Behavioural Triggers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364224" y="3163824"/>
            <a:ext cx="2596896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750" b="0" i="1">
                <a:solidFill>
                  <a:srgbClr val="787878"/>
                </a:solidFill>
                <a:latin typeface="Arial"/>
              </a:defRPr>
            </a:pPr>
            <a:r>
              <a:t>Three households, three different reasons to say no</a:t>
            </a:r>
          </a:p>
        </p:txBody>
      </p:sp>
      <p:sp>
        <p:nvSpPr>
          <p:cNvPr id="123" name="Oval 122"/>
          <p:cNvSpPr/>
          <p:nvPr/>
        </p:nvSpPr>
        <p:spPr>
          <a:xfrm>
            <a:off x="6144768" y="3355848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D1D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00" b="1">
                <a:solidFill>
                  <a:srgbClr val="ED1D24"/>
                </a:solidFill>
                <a:latin typeface="Calibri"/>
              </a:defRPr>
            </a:pPr>
            <a:r>
              <a:t>R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419088" y="3328416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650" b="1">
                <a:solidFill>
                  <a:srgbClr val="212121"/>
                </a:solidFill>
                <a:latin typeface="Arial"/>
              </a:defRPr>
            </a:pPr>
            <a:r>
              <a:t>REVA · 34 · Metro · High-Value · DTC channel</a:t>
            </a:r>
          </a:p>
          <a:p>
            <a:pPr>
              <a:defRPr sz="650" b="0" i="1">
                <a:solidFill>
                  <a:srgbClr val="212121"/>
                </a:solidFill>
                <a:latin typeface="Arial"/>
              </a:defRPr>
            </a:pPr>
            <a:r>
              <a:t>"I'll pay for one relationship if it won't go dark."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723376" y="3346704"/>
            <a:ext cx="21945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50" b="0">
                <a:solidFill>
                  <a:srgbClr val="787878"/>
                </a:solidFill>
                <a:latin typeface="Arial"/>
              </a:defRPr>
            </a:pPr>
            <a:r>
              <a:t>👥</a:t>
            </a:r>
          </a:p>
        </p:txBody>
      </p:sp>
      <p:sp>
        <p:nvSpPr>
          <p:cNvPr id="126" name="Oval 125"/>
          <p:cNvSpPr/>
          <p:nvPr/>
        </p:nvSpPr>
        <p:spPr>
          <a:xfrm>
            <a:off x="6144768" y="3739896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D1D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00" b="1">
                <a:solidFill>
                  <a:srgbClr val="ED1D24"/>
                </a:solidFill>
                <a:latin typeface="Calibri"/>
              </a:defRPr>
            </a:pPr>
            <a:r>
              <a:t>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19088" y="371246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650" b="1">
                <a:solidFill>
                  <a:srgbClr val="212121"/>
                </a:solidFill>
                <a:latin typeface="Arial"/>
              </a:defRPr>
            </a:pPr>
            <a:r>
              <a:t>SURESH · 41 · Semi-Urban · Distributor channel</a:t>
            </a:r>
          </a:p>
          <a:p>
            <a:pPr>
              <a:defRPr sz="650" b="0" i="1">
                <a:solidFill>
                  <a:srgbClr val="212121"/>
                </a:solidFill>
                <a:latin typeface="Arial"/>
              </a:defRPr>
            </a:pPr>
            <a:r>
              <a:t>"Show me the saving in rupees, not a percentage."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723376" y="3730752"/>
            <a:ext cx="21945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50" b="0">
                <a:solidFill>
                  <a:srgbClr val="787878"/>
                </a:solidFill>
                <a:latin typeface="Arial"/>
              </a:defRPr>
            </a:pPr>
            <a:r>
              <a:t>🏪</a:t>
            </a:r>
          </a:p>
        </p:txBody>
      </p:sp>
      <p:sp>
        <p:nvSpPr>
          <p:cNvPr id="129" name="Oval 128"/>
          <p:cNvSpPr/>
          <p:nvPr/>
        </p:nvSpPr>
        <p:spPr>
          <a:xfrm>
            <a:off x="6144768" y="4123944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D1D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00" b="1">
                <a:solidFill>
                  <a:srgbClr val="ED1D24"/>
                </a:solidFill>
                <a:latin typeface="Calibri"/>
              </a:defRPr>
            </a:pPr>
            <a:r>
              <a:t>A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419088" y="4096512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650" b="1">
                <a:solidFill>
                  <a:srgbClr val="212121"/>
                </a:solidFill>
                <a:latin typeface="Arial"/>
              </a:defRPr>
            </a:pPr>
            <a:r>
              <a:t>ANIKA · 24 · Metro · Digital-first, prepaid</a:t>
            </a:r>
          </a:p>
          <a:p>
            <a:pPr>
              <a:defRPr sz="650" b="0" i="1">
                <a:solidFill>
                  <a:srgbClr val="212121"/>
                </a:solidFill>
                <a:latin typeface="Arial"/>
              </a:defRPr>
            </a:pPr>
            <a:r>
              <a:t>"I compare four apps before I commit to one."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723376" y="4114800"/>
            <a:ext cx="21945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50" b="0">
                <a:solidFill>
                  <a:srgbClr val="787878"/>
                </a:solidFill>
                <a:latin typeface="Arial"/>
              </a:defRPr>
            </a:pPr>
            <a:r>
              <a:t>📱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144768" y="4517136"/>
            <a:ext cx="2816352" cy="109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550" b="0" i="1">
                <a:solidFill>
                  <a:srgbClr val="787878"/>
                </a:solidFill>
                <a:latin typeface="Arial"/>
              </a:defRPr>
            </a:pPr>
            <a:r>
              <a:t>Src: synthesised from Appendix 2 + primary survey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144000" cy="5143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24150" y="579597"/>
            <a:ext cx="822960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ED1D24"/>
                </a:solidFill>
                <a:latin typeface="Arial"/>
              </a:defRPr>
            </a:pPr>
            <a:r>
              <a:rPr dirty="0"/>
              <a:t>Annexure 1: Primary Research &amp; Conjoint Choice Cards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384048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121C"/>
                </a:solidFill>
                <a:latin typeface="Arial"/>
              </a:defRPr>
            </a:pPr>
            <a:r>
              <a:t>Research Methodology &amp; Conjoint Analysis</a:t>
            </a:r>
          </a:p>
          <a:p>
            <a:pPr>
              <a:spcAft>
                <a:spcPts val="600"/>
              </a:spcAft>
              <a:defRPr sz="950" b="0">
                <a:solidFill>
                  <a:srgbClr val="212121"/>
                </a:solidFill>
                <a:latin typeface="Arial"/>
              </a:defRPr>
            </a:pPr>
            <a:r>
              <a:t>• Conjoint Setup: We deployed 4 binary choice questions directly comparing individual utilities vs. their bundled Altura Home counterparts (Choice Card Starter, Connect, Family Secure, and Infinite).</a:t>
            </a:r>
          </a:p>
          <a:p>
            <a:pPr>
              <a:spcAft>
                <a:spcPts val="600"/>
              </a:spcAft>
              <a:defRPr sz="950" b="0">
                <a:solidFill>
                  <a:srgbClr val="212121"/>
                </a:solidFill>
                <a:latin typeface="Arial"/>
              </a:defRPr>
            </a:pPr>
            <a:r>
              <a:t>• Goal: This Discrete Choice Conjoint Experiment isolates exactly where price sensitivity breaks and maps household utility values.</a:t>
            </a:r>
          </a:p>
          <a:p>
            <a:pPr>
              <a:spcAft>
                <a:spcPts val="600"/>
              </a:spcAft>
              <a:defRPr sz="950" b="0">
                <a:solidFill>
                  <a:srgbClr val="212121"/>
                </a:solidFill>
                <a:latin typeface="Arial"/>
              </a:defRPr>
            </a:pPr>
            <a:r>
              <a:t>• Quantifying SPOF: Our survey includes agree/disagree statements to map network reliability concerns and data privacy barriers.</a:t>
            </a:r>
          </a:p>
          <a:p>
            <a:pPr>
              <a:spcAft>
                <a:spcPts val="600"/>
              </a:spcAft>
              <a:defRPr sz="950" b="0">
                <a:solidFill>
                  <a:srgbClr val="212121"/>
                </a:solidFill>
                <a:latin typeface="Arial"/>
              </a:defRPr>
            </a:pPr>
            <a:r>
              <a:t>• Uploading Cards: The generated card graphics (pictured right) help respondents visually compare price-to-benefit ratios.</a:t>
            </a:r>
          </a:p>
        </p:txBody>
      </p:sp>
      <p:pic>
        <p:nvPicPr>
          <p:cNvPr id="6" name="Picture 5" descr="choice_card_famil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88720"/>
            <a:ext cx="411480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144000" cy="5143500"/>
          </a:xfrm>
          <a:prstGeom prst="rect">
            <a:avLst/>
          </a:prstGeom>
        </p:spPr>
      </p:pic>
      <p:pic>
        <p:nvPicPr>
          <p:cNvPr id="6" name="Picture 5" descr="bundle_choice_c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88720"/>
            <a:ext cx="4114800" cy="30861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ED1D24"/>
                </a:solidFill>
                <a:latin typeface="Calibri"/>
              </a:defRPr>
            </a:pPr>
            <a:r>
              <a:t>Annexure 1: Primary Research &amp; Conjoint Choice Cards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05840"/>
            <a:ext cx="3840480" cy="365760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E4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64592" bIns="137160"/>
          <a:lstStyle/>
          <a:p>
            <a:pPr algn="ctr">
              <a:spcAft>
                <a:spcPts val="800"/>
              </a:spcAft>
              <a:defRPr sz="1300" b="1">
                <a:solidFill>
                  <a:srgbClr val="0F121C"/>
                </a:solidFill>
                <a:latin typeface="Calibri"/>
              </a:defRPr>
            </a:pPr>
            <a:r>
              <a:t>Research Methodology &amp; Conjoint Analysis</a:t>
            </a:r>
          </a:p>
          <a:p>
            <a:pPr>
              <a:spcAft>
                <a:spcPts val="500"/>
              </a:spcAft>
              <a:defRPr sz="880" b="0">
                <a:solidFill>
                  <a:srgbClr val="212121"/>
                </a:solidFill>
                <a:latin typeface="Arial"/>
              </a:defRPr>
            </a:pPr>
            <a:r>
              <a:t>• Conjoint Setup: We deployed 4 binary choice questions directly comparing individual utilities vs. their bundled Altura Home counterparts (Choice Card Starter, Connect, Family Secure, and Infinite).</a:t>
            </a:r>
          </a:p>
          <a:p>
            <a:pPr>
              <a:spcAft>
                <a:spcPts val="500"/>
              </a:spcAft>
              <a:defRPr sz="880" b="0">
                <a:solidFill>
                  <a:srgbClr val="212121"/>
                </a:solidFill>
                <a:latin typeface="Arial"/>
              </a:defRPr>
            </a:pPr>
            <a:r>
              <a:t>• Goal: This Discrete Choice Conjoint Experiment isolates exactly where price sensitivity breaks and maps household utility values.</a:t>
            </a:r>
          </a:p>
          <a:p>
            <a:pPr>
              <a:spcAft>
                <a:spcPts val="500"/>
              </a:spcAft>
              <a:defRPr sz="880" b="0">
                <a:solidFill>
                  <a:srgbClr val="212121"/>
                </a:solidFill>
                <a:latin typeface="Arial"/>
              </a:defRPr>
            </a:pPr>
            <a:r>
              <a:t>• Quantifying SPOF: Our survey includes agree/disagree statements to map network reliability concerns and data privacy barriers.</a:t>
            </a:r>
          </a:p>
          <a:p>
            <a:pPr>
              <a:spcAft>
                <a:spcPts val="500"/>
              </a:spcAft>
              <a:defRPr sz="880" b="0">
                <a:solidFill>
                  <a:srgbClr val="212121"/>
                </a:solidFill>
                <a:latin typeface="Arial"/>
              </a:defRPr>
            </a:pPr>
            <a:r>
              <a:t>• Uploading Cards: The generated card graphics (pictured right) help respondents visually compare price-to-benefit ratios.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005840"/>
            <a:ext cx="3749040" cy="73152"/>
          </a:xfrm>
          <a:prstGeom prst="rect">
            <a:avLst/>
          </a:prstGeom>
          <a:solidFill>
            <a:srgbClr val="0F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188720"/>
            <a:ext cx="4114800" cy="3086100"/>
          </a:xfrm>
          <a:prstGeom prst="rect">
            <a:avLst/>
          </a:prstGeom>
          <a:ln w="12700">
            <a:solidFill>
              <a:srgbClr val="E4E6EB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144000" cy="5143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ED1D24"/>
                </a:solidFill>
                <a:latin typeface="Calibri"/>
              </a:defRPr>
            </a:pPr>
            <a:r>
              <a:t>Annexure 2: Inbound Customer Portal &amp; Choice Matrices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05840"/>
            <a:ext cx="3840480" cy="365760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E4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64592" bIns="137160"/>
          <a:lstStyle/>
          <a:p>
            <a:pPr algn="ctr">
              <a:spcAft>
                <a:spcPts val="800"/>
              </a:spcAft>
              <a:defRPr sz="1300" b="1">
                <a:solidFill>
                  <a:srgbClr val="0F121C"/>
                </a:solidFill>
                <a:latin typeface="Calibri"/>
              </a:defRPr>
            </a:pPr>
            <a:r>
              <a:t>Digitizing the Onboarding Funnel</a:t>
            </a:r>
          </a:p>
          <a:p>
            <a:pPr>
              <a:spcAft>
                <a:spcPts val="500"/>
              </a:spcAft>
              <a:defRPr sz="880" b="0">
                <a:solidFill>
                  <a:srgbClr val="212121"/>
                </a:solidFill>
                <a:latin typeface="Arial"/>
              </a:defRPr>
            </a:pPr>
            <a:r>
              <a:t>• Website Re-architecting: Designed a premium tab-based structure instead of long scroll sheets, streamlining categories for different household priorities.</a:t>
            </a:r>
          </a:p>
          <a:p>
            <a:pPr>
              <a:spcAft>
                <a:spcPts val="500"/>
              </a:spcAft>
              <a:defRPr sz="880" b="0">
                <a:solidFill>
                  <a:srgbClr val="212121"/>
                </a:solidFill>
                <a:latin typeface="Arial"/>
              </a:defRPr>
            </a:pPr>
            <a:r>
              <a:t>• AirBot Integration: AirBot acts as a frictionless digital concierge. It replaces standard sales pitch dialogue with multi-select service checklists and contextual profiling.</a:t>
            </a:r>
          </a:p>
          <a:p>
            <a:pPr>
              <a:spcAft>
                <a:spcPts val="500"/>
              </a:spcAft>
              <a:defRPr sz="880" b="0">
                <a:solidFill>
                  <a:srgbClr val="212121"/>
                </a:solidFill>
                <a:latin typeface="Arial"/>
              </a:defRPr>
            </a:pPr>
            <a:r>
              <a:t>• Autopay &amp; Coin Loops: The online checkout dynamically demonstrates monthly savings (₹50 discount) and Thanks Coins loyalty accumulation to increase signup rates.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05840"/>
            <a:ext cx="3749040" cy="73152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88720"/>
            <a:ext cx="4114800" cy="3086100"/>
          </a:xfrm>
          <a:prstGeom prst="rect">
            <a:avLst/>
          </a:prstGeom>
          <a:ln w="12700">
            <a:solidFill>
              <a:srgbClr val="E4E6EB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144000" cy="5143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ED1D24"/>
                </a:solidFill>
                <a:latin typeface="Calibri"/>
              </a:defRPr>
            </a:pPr>
            <a:r>
              <a:t>Annexure 3: Data-Driven Target Cohorts &amp; Economics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05840"/>
            <a:ext cx="8229600" cy="365760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E4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64592" bIns="137160"/>
          <a:lstStyle/>
          <a:p>
            <a:pPr algn="ctr">
              <a:spcAft>
                <a:spcPts val="800"/>
              </a:spcAft>
              <a:defRPr sz="1300" b="1">
                <a:solidFill>
                  <a:srgbClr val="0F121C"/>
                </a:solidFill>
                <a:latin typeface="Calibri"/>
              </a:defRPr>
            </a:pPr>
            <a:r>
              <a:t>AI-Targeted Cross-Sell Opportunities (Exhibits 4 &amp; 5)</a:t>
            </a:r>
          </a:p>
          <a:p>
            <a:pPr>
              <a:spcAft>
                <a:spcPts val="600"/>
              </a:spcAft>
              <a:defRPr sz="900" b="0">
                <a:solidFill>
                  <a:srgbClr val="212121"/>
                </a:solidFill>
                <a:latin typeface="Arial"/>
              </a:defRPr>
            </a:pPr>
            <a:r>
              <a:t>• Cohort A: High-Intent Overlaps (2.5M Users): Target the 2.5 million households subscribing to both Broadband and DTH. Since they are already double-billed, they represent low-hanging fruit for the 'Connect' or 'Family Secure' bundles.</a:t>
            </a:r>
          </a:p>
          <a:p>
            <a:pPr>
              <a:spcAft>
                <a:spcPts val="600"/>
              </a:spcAft>
              <a:defRPr sz="900" b="0">
                <a:solidFill>
                  <a:srgbClr val="212121"/>
                </a:solidFill>
                <a:latin typeface="Arial"/>
              </a:defRPr>
            </a:pPr>
            <a:r>
              <a:t>• Cohort B: DTH-Only Accounts (16M Users): DTH is expected to decline due to streaming (Exhibit 2). Transitioning these 16 million siloed accounts into converged Fiber+SIM+TV bundles saves them money while preventing DTH cord-cutting.</a:t>
            </a:r>
          </a:p>
          <a:p>
            <a:pPr>
              <a:spcAft>
                <a:spcPts val="600"/>
              </a:spcAft>
              <a:defRPr sz="900" b="0">
                <a:solidFill>
                  <a:srgbClr val="212121"/>
                </a:solidFill>
                <a:latin typeface="Arial"/>
              </a:defRPr>
            </a:pPr>
            <a:r>
              <a:t>• Channel Optimization: Digital channel CAC is 50% lower than direct sales (Broadband: ₹220 vs ₹450), but direct sales secure higher Month-4 retention. We route online AirBot leads directly to concierge field technicians to optimize conversion.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05840"/>
            <a:ext cx="8138160" cy="73152"/>
          </a:xfrm>
          <a:prstGeom prst="rect">
            <a:avLst/>
          </a:prstGeom>
          <a:solidFill>
            <a:srgbClr val="0F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144000" cy="5143500"/>
          </a:xfrm>
          <a:prstGeom prst="rect">
            <a:avLst/>
          </a:prstGeom>
        </p:spPr>
      </p:pic>
      <p:pic>
        <p:nvPicPr>
          <p:cNvPr id="6" name="Picture 5" descr="screenshot_air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005840"/>
            <a:ext cx="1005840" cy="1097280"/>
          </a:xfrm>
          <a:prstGeom prst="rect">
            <a:avLst/>
          </a:prstGeom>
        </p:spPr>
      </p:pic>
      <p:pic>
        <p:nvPicPr>
          <p:cNvPr id="8" name="Picture 7" descr="screenshot_packag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2286000"/>
            <a:ext cx="1828800" cy="1033271"/>
          </a:xfrm>
          <a:prstGeom prst="rect">
            <a:avLst/>
          </a:prstGeom>
        </p:spPr>
      </p:pic>
      <p:pic>
        <p:nvPicPr>
          <p:cNvPr id="10" name="Picture 9" descr="screenshot_customiz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3474720"/>
            <a:ext cx="1828800" cy="103327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ED1D24"/>
                </a:solidFill>
                <a:latin typeface="Calibri"/>
              </a:defRPr>
            </a:pPr>
            <a:r>
              <a:t>Annexure 4: Bundle Pricing Model &amp; EBITDA Accretion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005840"/>
            <a:ext cx="8229600" cy="365760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E4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64592" bIns="137160"/>
          <a:lstStyle/>
          <a:p>
            <a:pPr algn="ctr">
              <a:spcAft>
                <a:spcPts val="800"/>
              </a:spcAft>
              <a:defRPr sz="1300" b="1">
                <a:solidFill>
                  <a:srgbClr val="0F121C"/>
                </a:solidFill>
                <a:latin typeface="Calibri"/>
              </a:defRPr>
            </a:pPr>
            <a:r>
              <a:t>Converged Pricing Sheets &amp; EBITDA Margins (Exhibits 1 &amp; 2)</a:t>
            </a:r>
          </a:p>
          <a:p>
            <a:pPr>
              <a:spcAft>
                <a:spcPts val="600"/>
              </a:spcAft>
              <a:defRPr sz="900" b="0">
                <a:solidFill>
                  <a:srgbClr val="212121"/>
                </a:solidFill>
                <a:latin typeface="Arial"/>
              </a:defRPr>
            </a:pPr>
            <a:r>
              <a:t>• Individual vs. Bundle Price Matrix:</a:t>
            </a:r>
          </a:p>
          <a:p>
            <a:pPr>
              <a:spcAft>
                <a:spcPts val="600"/>
              </a:spcAft>
              <a:defRPr sz="900" b="0">
                <a:solidFill>
                  <a:srgbClr val="212121"/>
                </a:solidFill>
                <a:latin typeface="Arial"/>
              </a:defRPr>
            </a:pPr>
            <a:r>
              <a:t>   - Standalone Sum: Broadband (₹599) + 2 SIMs (₹700) + Xstream Box (₹250) + Google One (₹209) + Xsafe CCTV (₹150) + Bank (₹99) = ₹2,006/mo.</a:t>
            </a:r>
          </a:p>
          <a:p>
            <a:pPr>
              <a:spcAft>
                <a:spcPts val="600"/>
              </a:spcAft>
              <a:defRPr sz="900" b="0">
                <a:solidFill>
                  <a:srgbClr val="212121"/>
                </a:solidFill>
                <a:latin typeface="Arial"/>
              </a:defRPr>
            </a:pPr>
            <a:r>
              <a:t>   - Consolidated Family Secure: ₹1,499/mo (Saves ₹507/mo or 25% discount). Promoted at ₹999/mo for the first 3 months to destroy switching inertia.</a:t>
            </a:r>
          </a:p>
          <a:p>
            <a:pPr>
              <a:spcAft>
                <a:spcPts val="600"/>
              </a:spcAft>
              <a:defRPr sz="900" b="0">
                <a:solidFill>
                  <a:srgbClr val="212121"/>
                </a:solidFill>
                <a:latin typeface="Arial"/>
              </a:defRPr>
            </a:pPr>
            <a:r>
              <a:t>• Margin Protection: Home Surveillance holds the highest EBITDA margin at 35% (Exhibit 1) and is growing at 35.7% CAGR (Exhibit 2). By bundling Xsafe cameras into Family Secure and Infinite tiers, we offset lower TV margins (12% EBITDA) and drive net margin expansion.</a:t>
            </a:r>
          </a:p>
          <a:p>
            <a:pPr>
              <a:spcAft>
                <a:spcPts val="600"/>
              </a:spcAft>
              <a:defRPr sz="900" b="0">
                <a:solidFill>
                  <a:srgbClr val="212121"/>
                </a:solidFill>
                <a:latin typeface="Arial"/>
              </a:defRPr>
            </a:pPr>
            <a:r>
              <a:t>• Churn Leverage: Reducing household churn from 22% down to 5% lifts customer lifetime value (LTV) by over 400%, easily amortizing the initial ₹999/mo introductory launch promo cost.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005840"/>
            <a:ext cx="8138160" cy="73152"/>
          </a:xfrm>
          <a:prstGeom prst="rect">
            <a:avLst/>
          </a:prstGeom>
          <a:solidFill>
            <a:srgbClr val="ED1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144000" cy="5143500"/>
          </a:xfrm>
          <a:prstGeom prst="rect">
            <a:avLst/>
          </a:prstGeom>
        </p:spPr>
      </p:pic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88720"/>
            <a:ext cx="411480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144000" cy="5143500"/>
          </a:xfrm>
          <a:prstGeom prst="rect">
            <a:avLst/>
          </a:prstGeom>
        </p:spPr>
      </p:pic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88720"/>
            <a:ext cx="411480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144000" cy="5143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005840"/>
            <a:ext cx="1005840" cy="1097280"/>
          </a:xfrm>
          <a:prstGeom prst="rect">
            <a:avLst/>
          </a:prstGeom>
          <a:ln w="12700">
            <a:solidFill>
              <a:srgbClr val="E4E6EB"/>
            </a:solidFill>
          </a:ln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2286000"/>
            <a:ext cx="1828800" cy="1033271"/>
          </a:xfrm>
          <a:prstGeom prst="rect">
            <a:avLst/>
          </a:prstGeom>
          <a:ln w="12700">
            <a:solidFill>
              <a:srgbClr val="E4E6EB"/>
            </a:solidFill>
          </a:ln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3474720"/>
            <a:ext cx="1828800" cy="1033271"/>
          </a:xfrm>
          <a:prstGeom prst="rect">
            <a:avLst/>
          </a:prstGeom>
          <a:ln w="12700">
            <a:solidFill>
              <a:srgbClr val="E4E6EB"/>
            </a:solidFill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1222</Words>
  <Application>Microsoft Macintosh PowerPoint</Application>
  <PresentationFormat>On-screen Show (16:9)</PresentationFormat>
  <Paragraphs>53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NIKET PARIKH</cp:lastModifiedBy>
  <cp:revision>2</cp:revision>
  <dcterms:modified xsi:type="dcterms:W3CDTF">2026-07-18T12:38:04Z</dcterms:modified>
</cp:coreProperties>
</file>