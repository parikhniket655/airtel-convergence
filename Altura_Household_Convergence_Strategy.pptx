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
  </p:notesMasterIdLst>
  <p:sldIdLst>
    <p:sldId id="256" r:id="rId2"/>
    <p:sldId id="257" r:id="rId3"/>
    <p:sldId id="258" r:id="rId4"/>
    <p:sldId id="260" r:id="rId5"/>
    <p:sldId id="261" r:id="rId6"/>
    <p:sldId id="262" r:id="rId7"/>
    <p:sldId id="263" r:id="rId8"/>
    <p:sldId id="264" r:id="rId14"/>
    <p:sldId id="265" r:id="rId15"/>
    <p:sldId id="266" r:id="rId16"/>
    <p:sldId id="267" r:id="rId17"/>
    <p:sldId id="268"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1"/>
  </p:normalViewPr>
  <p:slideViewPr>
    <p:cSldViewPr snapToGrid="0">
      <p:cViewPr varScale="1">
        <p:scale>
          <a:sx n="139" d="100"/>
          <a:sy n="139" d="100"/>
        </p:scale>
        <p:origin x="864" y="16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f2dfdaf518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f2dfdaf518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9091668D-A8FE-89DA-D5F0-64689047E506}"/>
            </a:ext>
          </a:extLst>
        </p:cNvPr>
        <p:cNvGrpSpPr/>
        <p:nvPr/>
      </p:nvGrpSpPr>
      <p:grpSpPr>
        <a:xfrm>
          <a:off x="0" y="0"/>
          <a:ext cx="0" cy="0"/>
          <a:chOff x="0" y="0"/>
          <a:chExt cx="0" cy="0"/>
        </a:xfrm>
      </p:grpSpPr>
      <p:sp>
        <p:nvSpPr>
          <p:cNvPr id="56" name="Google Shape;56;g3f2dfdaf518_0_1:notes">
            <a:extLst>
              <a:ext uri="{FF2B5EF4-FFF2-40B4-BE49-F238E27FC236}">
                <a16:creationId xmlns:a16="http://schemas.microsoft.com/office/drawing/2014/main" id="{B190057C-A0F7-315E-FFE5-3CCFF993A8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f2dfdaf518_0_1:notes">
            <a:extLst>
              <a:ext uri="{FF2B5EF4-FFF2-40B4-BE49-F238E27FC236}">
                <a16:creationId xmlns:a16="http://schemas.microsoft.com/office/drawing/2014/main" id="{605D3E22-BDC3-43B6-2849-F2D28AB0C3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54835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pic>
        <p:nvPicPr>
          <p:cNvPr id="54" name="Google Shape;54;p13" title="Submission Template-01.jpg"/>
          <p:cNvPicPr preferRelativeResize="0"/>
          <p:nvPr/>
        </p:nvPicPr>
        <p:blipFill>
          <a:blip r:embed="rId3">
            <a:alphaModFix/>
          </a:blip>
          <a:stretch>
            <a:fillRect/>
          </a:stretch>
        </p:blipFill>
        <p:spPr>
          <a:xfrm>
            <a:off x="-22025" y="-11025"/>
            <a:ext cx="9176376" cy="5154524"/>
          </a:xfrm>
          <a:prstGeom prst="rect">
            <a:avLst/>
          </a:prstGeom>
          <a:noFill/>
          <a:ln>
            <a:noFill/>
          </a:ln>
        </p:spPr>
      </p:pic>
      <p:sp>
        <p:nvSpPr>
          <p:cNvPr id="55" name="TextBox 54"/>
          <p:cNvSpPr txBox="1"/>
          <p:nvPr/>
        </p:nvSpPr>
        <p:spPr>
          <a:xfrm>
            <a:off x="731520" y="1463040"/>
            <a:ext cx="7680960" cy="1371600"/>
          </a:xfrm>
          <a:prstGeom prst="rect">
            <a:avLst/>
          </a:prstGeom>
          <a:noFill/>
        </p:spPr>
        <p:txBody>
          <a:bodyPr wrap="square" lIns="0">
            <a:spAutoFit/>
          </a:bodyPr>
          <a:lstStyle/>
          <a:p>
            <a:pPr>
              <a:spcAft>
                <a:spcPts val="400"/>
              </a:spcAft>
              <a:defRPr sz="3200" b="1">
                <a:solidFill>
                  <a:srgbClr val="ED1D24"/>
                </a:solidFill>
                <a:latin typeface="Calibri"/>
              </a:defRPr>
            </a:pPr>
            <a:r>
              <a:t>ALTURA COMMUNICATIONS</a:t>
            </a:r>
          </a:p>
          <a:p>
            <a:pPr>
              <a:defRPr sz="2400" b="1">
                <a:solidFill>
                  <a:srgbClr val="0F121C"/>
                </a:solidFill>
                <a:latin typeface="Calibri"/>
              </a:defRPr>
            </a:pPr>
            <a:r>
              <a:t>Connected Household Convergence Strategy</a:t>
            </a:r>
          </a:p>
        </p:txBody>
      </p:sp>
      <p:sp>
        <p:nvSpPr>
          <p:cNvPr id="56" name="TextBox 55"/>
          <p:cNvSpPr txBox="1"/>
          <p:nvPr/>
        </p:nvSpPr>
        <p:spPr>
          <a:xfrm>
            <a:off x="731520" y="2926080"/>
            <a:ext cx="7680960" cy="914400"/>
          </a:xfrm>
          <a:prstGeom prst="rect">
            <a:avLst/>
          </a:prstGeom>
          <a:noFill/>
        </p:spPr>
        <p:txBody>
          <a:bodyPr wrap="square" lIns="0">
            <a:spAutoFit/>
          </a:bodyPr>
          <a:lstStyle/>
          <a:p>
            <a:pPr>
              <a:defRPr sz="1200" b="0">
                <a:solidFill>
                  <a:srgbClr val="212121"/>
                </a:solidFill>
                <a:latin typeface="Arial"/>
              </a:defRPr>
            </a:pPr>
            <a:r>
              <a:t>Maximizing Share of Wallet through Inbound Digital Platforms, Habit-Forming Bundle Pricing, Google One Storage, Autopay Incentives, and AI/ML Targeting.</a:t>
            </a:r>
          </a:p>
        </p:txBody>
      </p:sp>
      <p:sp>
        <p:nvSpPr>
          <p:cNvPr id="57" name="TextBox 56"/>
          <p:cNvSpPr txBox="1"/>
          <p:nvPr/>
        </p:nvSpPr>
        <p:spPr>
          <a:xfrm>
            <a:off x="731520" y="3931920"/>
            <a:ext cx="7680960" cy="731520"/>
          </a:xfrm>
          <a:prstGeom prst="rect">
            <a:avLst/>
          </a:prstGeom>
          <a:noFill/>
        </p:spPr>
        <p:txBody>
          <a:bodyPr wrap="square" lIns="0">
            <a:spAutoFit/>
          </a:bodyPr>
          <a:lstStyle/>
          <a:p>
            <a:pPr>
              <a:defRPr sz="1000" b="1">
                <a:solidFill>
                  <a:srgbClr val="0F121C"/>
                </a:solidFill>
                <a:latin typeface="Arial"/>
              </a:defRPr>
            </a:pPr>
            <a:r>
              <a:t>Case Competition Submission | 2026 Strategy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pic>
        <p:nvPicPr>
          <p:cNvPr id="59" name="Google Shape;59;p14" title="Submission Template-02.jpg"/>
          <p:cNvPicPr preferRelativeResize="0"/>
          <p:nvPr/>
        </p:nvPicPr>
        <p:blipFill>
          <a:blip r:embed="rId3">
            <a:alphaModFix/>
          </a:blip>
          <a:stretch>
            <a:fillRect/>
          </a:stretch>
        </p:blipFill>
        <p:spPr>
          <a:xfrm>
            <a:off x="1" y="0"/>
            <a:ext cx="9144000" cy="5143500"/>
          </a:xfrm>
          <a:prstGeom prst="rect">
            <a:avLst/>
          </a:prstGeom>
          <a:noFill/>
          <a:ln>
            <a:noFill/>
          </a:ln>
        </p:spPr>
      </p:pic>
      <p:sp>
        <p:nvSpPr>
          <p:cNvPr id="60" name="TextBox 59"/>
          <p:cNvSpPr txBox="1"/>
          <p:nvPr/>
        </p:nvSpPr>
        <p:spPr>
          <a:xfrm>
            <a:off x="457200" y="182880"/>
            <a:ext cx="8229600" cy="731520"/>
          </a:xfrm>
          <a:prstGeom prst="rect">
            <a:avLst/>
          </a:prstGeom>
          <a:noFill/>
        </p:spPr>
        <p:txBody>
          <a:bodyPr wrap="square" lIns="0" tIns="0">
            <a:spAutoFit/>
          </a:bodyPr>
          <a:lstStyle/>
          <a:p>
            <a:pPr>
              <a:defRPr sz="2100" b="1">
                <a:solidFill>
                  <a:srgbClr val="ED1D24"/>
                </a:solidFill>
                <a:latin typeface="Calibri"/>
              </a:defRPr>
            </a:pPr>
            <a:r>
              <a:t>Altura Communications: Strategic Diagnosis &amp; Market Analysis</a:t>
            </a:r>
          </a:p>
        </p:txBody>
      </p:sp>
      <p:sp>
        <p:nvSpPr>
          <p:cNvPr id="61" name="TextBox 60"/>
          <p:cNvSpPr txBox="1"/>
          <p:nvPr/>
        </p:nvSpPr>
        <p:spPr>
          <a:xfrm>
            <a:off x="457200" y="1005840"/>
            <a:ext cx="2468880" cy="3657600"/>
          </a:xfrm>
          <a:prstGeom prst="rect">
            <a:avLst/>
          </a:prstGeom>
          <a:noFill/>
        </p:spPr>
        <p:txBody>
          <a:bodyPr wrap="square" lIns="0" tIns="0">
            <a:spAutoFit/>
          </a:bodyPr>
          <a:lstStyle/>
          <a:p>
            <a:pPr>
              <a:spcAft>
                <a:spcPts val="800"/>
              </a:spcAft>
              <a:defRPr sz="1300" b="1">
                <a:solidFill>
                  <a:srgbClr val="0F121C"/>
                </a:solidFill>
                <a:latin typeface="Calibri"/>
              </a:defRPr>
            </a:pPr>
            <a:r>
              <a:t>1. Wallet Opportunity &amp; Moat</a:t>
            </a:r>
          </a:p>
          <a:p>
            <a:pPr>
              <a:spcAft>
                <a:spcPts val="600"/>
              </a:spcAft>
              <a:defRPr sz="950" b="0">
                <a:solidFill>
                  <a:srgbClr val="212121"/>
                </a:solidFill>
                <a:latin typeface="Arial"/>
              </a:defRPr>
            </a:pPr>
            <a:r>
              <a:t>• Wallet Gaps: Connectivity accounts for 35% of household spend, but adjacent services like Entertainment (12%) and Home Security (2%) represent massive white spaces (Exhibit 3).</a:t>
            </a:r>
          </a:p>
          <a:p>
            <a:pPr>
              <a:spcAft>
                <a:spcPts val="600"/>
              </a:spcAft>
              <a:defRPr sz="950" b="0">
                <a:solidFill>
                  <a:srgbClr val="212121"/>
                </a:solidFill>
                <a:latin typeface="Arial"/>
              </a:defRPr>
            </a:pPr>
            <a:r>
              <a:t>• Bundling Retention: Moving a customer from 1 product to 3+ services drops annual churn from 22% to 5% while increasing annual revenue from ₹5,500 to ₹18,000 (Exhibit 4).</a:t>
            </a:r>
          </a:p>
          <a:p>
            <a:pPr>
              <a:spcAft>
                <a:spcPts val="600"/>
              </a:spcAft>
              <a:defRPr sz="950" b="0">
                <a:solidFill>
                  <a:srgbClr val="212121"/>
                </a:solidFill>
                <a:latin typeface="Arial"/>
              </a:defRPr>
            </a:pPr>
            <a:r>
              <a:t>• Postpaid Economics: Postpaid SIMs deliver ₹100 higher ARPU and 50% stronger customer stickiness than prepaid, yet organizational silos block seamless customer migrations.</a:t>
            </a:r>
          </a:p>
        </p:txBody>
      </p:sp>
      <p:sp>
        <p:nvSpPr>
          <p:cNvPr id="62" name="TextBox 61"/>
          <p:cNvSpPr txBox="1"/>
          <p:nvPr/>
        </p:nvSpPr>
        <p:spPr>
          <a:xfrm>
            <a:off x="3291840" y="1005840"/>
            <a:ext cx="2468880" cy="3657600"/>
          </a:xfrm>
          <a:prstGeom prst="rect">
            <a:avLst/>
          </a:prstGeom>
          <a:noFill/>
        </p:spPr>
        <p:txBody>
          <a:bodyPr wrap="square" lIns="0" tIns="0">
            <a:spAutoFit/>
          </a:bodyPr>
          <a:lstStyle/>
          <a:p>
            <a:pPr>
              <a:spcAft>
                <a:spcPts val="800"/>
              </a:spcAft>
              <a:defRPr sz="1300" b="1">
                <a:solidFill>
                  <a:srgbClr val="0F121C"/>
                </a:solidFill>
                <a:latin typeface="Calibri"/>
              </a:defRPr>
            </a:pPr>
            <a:r>
              <a:t>2. Landscape &amp; Persona Triggers</a:t>
            </a:r>
          </a:p>
          <a:p>
            <a:pPr>
              <a:spcAft>
                <a:spcPts val="600"/>
              </a:spcAft>
              <a:defRPr sz="950" b="0">
                <a:solidFill>
                  <a:srgbClr val="212121"/>
                </a:solidFill>
                <a:latin typeface="Arial"/>
              </a:defRPr>
            </a:pPr>
            <a:r>
              <a:t>• Prepaid Saturation: Prepaid mobile markets are mature with high penetration and constrained pricing power. Future growth must rely on adjacencies.</a:t>
            </a:r>
          </a:p>
          <a:p>
            <a:pPr>
              <a:spcAft>
                <a:spcPts val="600"/>
              </a:spcAft>
              <a:defRPr sz="950" b="0">
                <a:solidFill>
                  <a:srgbClr val="212121"/>
                </a:solidFill>
                <a:latin typeface="Arial"/>
              </a:defRPr>
            </a:pPr>
            <a:r>
              <a:t>• Competitive Grid: Regional broadband players are fragmented, and DTH television revenues are shrinking globally due to cord-cutting pressures (Exhibit 1 &amp; 2).</a:t>
            </a:r>
          </a:p>
          <a:p>
            <a:pPr>
              <a:spcAft>
                <a:spcPts val="600"/>
              </a:spcAft>
              <a:defRPr sz="950" b="0">
                <a:solidFill>
                  <a:srgbClr val="212121"/>
                </a:solidFill>
                <a:latin typeface="Arial"/>
              </a:defRPr>
            </a:pPr>
            <a:r>
              <a:t>• Persona Triggers: High-value connected households value unified billing and reward points. Core motivators include automated convenience (Autopay) and brand security trust.</a:t>
            </a:r>
          </a:p>
        </p:txBody>
      </p:sp>
      <p:sp>
        <p:nvSpPr>
          <p:cNvPr id="63" name="TextBox 62"/>
          <p:cNvSpPr txBox="1"/>
          <p:nvPr/>
        </p:nvSpPr>
        <p:spPr>
          <a:xfrm>
            <a:off x="6126480" y="1005840"/>
            <a:ext cx="2468880" cy="3657600"/>
          </a:xfrm>
          <a:prstGeom prst="rect">
            <a:avLst/>
          </a:prstGeom>
          <a:noFill/>
        </p:spPr>
        <p:txBody>
          <a:bodyPr wrap="square" lIns="0" tIns="0">
            <a:spAutoFit/>
          </a:bodyPr>
          <a:lstStyle/>
          <a:p>
            <a:pPr>
              <a:spcAft>
                <a:spcPts val="800"/>
              </a:spcAft>
              <a:defRPr sz="1300" b="1">
                <a:solidFill>
                  <a:srgbClr val="0F121C"/>
                </a:solidFill>
                <a:latin typeface="Calibri"/>
              </a:defRPr>
            </a:pPr>
            <a:r>
              <a:t>3. Core Strategic Problems</a:t>
            </a:r>
          </a:p>
          <a:p>
            <a:pPr>
              <a:spcAft>
                <a:spcPts val="600"/>
              </a:spcAft>
              <a:defRPr sz="950" b="0">
                <a:solidFill>
                  <a:srgbClr val="212121"/>
                </a:solidFill>
                <a:latin typeface="Arial"/>
              </a:defRPr>
            </a:pPr>
            <a:r>
              <a:t>• Single Point of Failure: 60%+ of households fear putting mobile and fiber under one operator due to worry over complete connectivity blackout during fiber cuts.</a:t>
            </a:r>
          </a:p>
          <a:p>
            <a:pPr>
              <a:spcAft>
                <a:spcPts val="600"/>
              </a:spcAft>
              <a:defRPr sz="950" b="0">
                <a:solidFill>
                  <a:srgbClr val="212121"/>
                </a:solidFill>
                <a:latin typeface="Arial"/>
              </a:defRPr>
            </a:pPr>
            <a:r>
              <a:t>• Migration Complexity: Customers dread porting numbers and coordinating multiple technician visits for routers, TV boxes, and cameras.</a:t>
            </a:r>
          </a:p>
          <a:p>
            <a:pPr>
              <a:spcAft>
                <a:spcPts val="600"/>
              </a:spcAft>
              <a:defRPr sz="950" b="0">
                <a:solidFill>
                  <a:srgbClr val="212121"/>
                </a:solidFill>
                <a:latin typeface="Arial"/>
              </a:defRPr>
            </a:pPr>
            <a:r>
              <a:t>• Product Silos: Sales and field forces work in independent silos, missing cross-sell during low-decay, in-home technician visits.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26976F6B-61BC-F3CF-C2E0-C7C0296A4D56}"/>
            </a:ext>
          </a:extLst>
        </p:cNvPr>
        <p:cNvGrpSpPr/>
        <p:nvPr/>
      </p:nvGrpSpPr>
      <p:grpSpPr>
        <a:xfrm>
          <a:off x="0" y="0"/>
          <a:ext cx="0" cy="0"/>
          <a:chOff x="0" y="0"/>
          <a:chExt cx="0" cy="0"/>
        </a:xfrm>
      </p:grpSpPr>
      <p:pic>
        <p:nvPicPr>
          <p:cNvPr id="59" name="Google Shape;59;p14" title="Submission Template-02.jpg">
            <a:extLst>
              <a:ext uri="{FF2B5EF4-FFF2-40B4-BE49-F238E27FC236}">
                <a16:creationId xmlns:a16="http://schemas.microsoft.com/office/drawing/2014/main" id="{BF979149-14EB-AA73-037B-56EF7FEC7567}"/>
              </a:ext>
            </a:extLst>
          </p:cNvPr>
          <p:cNvPicPr preferRelativeResize="0"/>
          <p:nvPr/>
        </p:nvPicPr>
        <p:blipFill>
          <a:blip r:embed="rId3">
            <a:alphaModFix/>
          </a:blip>
          <a:stretch>
            <a:fillRect/>
          </a:stretch>
        </p:blipFill>
        <p:spPr>
          <a:xfrm>
            <a:off x="1" y="0"/>
            <a:ext cx="9144000" cy="5143500"/>
          </a:xfrm>
          <a:prstGeom prst="rect">
            <a:avLst/>
          </a:prstGeom>
          <a:noFill/>
          <a:ln>
            <a:noFill/>
          </a:ln>
        </p:spPr>
      </p:pic>
      <p:sp>
        <p:nvSpPr>
          <p:cNvPr id="60" name="TextBox 59">
            <a:extLst>
              <a:ext uri="{FF2B5EF4-FFF2-40B4-BE49-F238E27FC236}">
                <a16:creationId xmlns:a16="http://schemas.microsoft.com/office/drawing/2014/main" id="{E75D3418-42E5-6285-F2F1-28AC5CF1E198}"/>
              </a:ext>
            </a:extLst>
          </p:cNvPr>
          <p:cNvSpPr txBox="1"/>
          <p:nvPr/>
        </p:nvSpPr>
        <p:spPr>
          <a:xfrm>
            <a:off x="457200" y="388620"/>
            <a:ext cx="8229600" cy="731520"/>
          </a:xfrm>
          <a:prstGeom prst="rect">
            <a:avLst/>
          </a:prstGeom>
          <a:noFill/>
        </p:spPr>
        <p:txBody>
          <a:bodyPr wrap="square" lIns="0" tIns="0">
            <a:spAutoFit/>
          </a:bodyPr>
          <a:lstStyle/>
          <a:p>
            <a:pPr>
              <a:defRPr sz="2200" b="1">
                <a:solidFill>
                  <a:srgbClr val="ED1D24"/>
                </a:solidFill>
                <a:latin typeface="Arial"/>
              </a:defRPr>
            </a:pPr>
            <a:r>
              <a:t>Altura Home: Inbound Ecosystem &amp; AI-Enabled GTM</a:t>
            </a:r>
          </a:p>
        </p:txBody>
      </p:sp>
      <p:sp>
        <p:nvSpPr>
          <p:cNvPr id="61" name="TextBox 60">
            <a:extLst>
              <a:ext uri="{FF2B5EF4-FFF2-40B4-BE49-F238E27FC236}">
                <a16:creationId xmlns:a16="http://schemas.microsoft.com/office/drawing/2014/main" id="{F66AF7BD-8E64-0272-18D3-19EDAB3D8DA9}"/>
              </a:ext>
            </a:extLst>
          </p:cNvPr>
          <p:cNvSpPr txBox="1"/>
          <p:nvPr/>
        </p:nvSpPr>
        <p:spPr>
          <a:xfrm>
            <a:off x="457200" y="1005840"/>
            <a:ext cx="8229600" cy="1188720"/>
          </a:xfrm>
          <a:prstGeom prst="rect">
            <a:avLst/>
          </a:prstGeom>
          <a:noFill/>
        </p:spPr>
        <p:txBody>
          <a:bodyPr wrap="square" lIns="0" tIns="0">
            <a:spAutoFit/>
          </a:bodyPr>
          <a:lstStyle/>
          <a:p>
            <a:pPr>
              <a:spcAft>
                <a:spcPts val="400"/>
              </a:spcAft>
              <a:defRPr sz="1200" b="1">
                <a:solidFill>
                  <a:srgbClr val="0F121C"/>
                </a:solidFill>
                <a:latin typeface="Arial"/>
              </a:defRPr>
            </a:pPr>
            <a:r>
              <a:t>1. Inbound Web, AirBot Chatbot &amp; Unified Bundling</a:t>
            </a:r>
          </a:p>
          <a:p>
            <a:pPr>
              <a:spcAft>
                <a:spcPts val="300"/>
              </a:spcAft>
              <a:defRPr sz="900" b="0">
                <a:solidFill>
                  <a:srgbClr val="212121"/>
                </a:solidFill>
                <a:latin typeface="Calibri"/>
              </a:defRPr>
            </a:pPr>
            <a:r>
              <a:t>• 4 Converged Plans: Starter (₹499/mo, 1 SIM + Xstream Play), Connect (₹999/mo, 40M Fiber + TV), Family Secure (₹999 promo, 100M Fiber + 2 SIMs + CCTV), Infinite (₹2,999/mo, 1G Fiber + 4 SIMs + 3 Cams).</a:t>
            </a:r>
          </a:p>
          <a:p>
            <a:pPr>
              <a:spcAft>
                <a:spcPts val="300"/>
              </a:spcAft>
              <a:defRPr sz="900" b="0">
                <a:solidFill>
                  <a:srgbClr val="212121"/>
                </a:solidFill>
                <a:latin typeface="Calibri"/>
              </a:defRPr>
            </a:pPr>
            <a:r>
              <a:t>• AirBot Digital Concierge: Web interactive bot using multi-select questionnaire filtering to route users to optimal bundles and reduce conversion friction.</a:t>
            </a:r>
          </a:p>
          <a:p>
            <a:pPr>
              <a:spcAft>
                <a:spcPts val="300"/>
              </a:spcAft>
              <a:defRPr sz="900" b="0">
                <a:solidFill>
                  <a:srgbClr val="212121"/>
                </a:solidFill>
                <a:latin typeface="Calibri"/>
              </a:defRPr>
            </a:pPr>
            <a:r>
              <a:t>• Autopay &amp; Coins Incentives: Instant ₹50/mo bill discount and monthly Thanks Coins points to secure loyalty, automate renewals, and reduce admin overhead.</a:t>
            </a:r>
          </a:p>
        </p:txBody>
      </p:sp>
      <p:sp>
        <p:nvSpPr>
          <p:cNvPr id="62" name="TextBox 61">
            <a:extLst>
              <a:ext uri="{FF2B5EF4-FFF2-40B4-BE49-F238E27FC236}">
                <a16:creationId xmlns:a16="http://schemas.microsoft.com/office/drawing/2014/main" id="{1E4728D8-8C70-103B-3CC3-50762A38B1F2}"/>
              </a:ext>
            </a:extLst>
          </p:cNvPr>
          <p:cNvSpPr txBox="1"/>
          <p:nvPr/>
        </p:nvSpPr>
        <p:spPr>
          <a:xfrm>
            <a:off x="457200" y="2286000"/>
            <a:ext cx="8229600" cy="1188720"/>
          </a:xfrm>
          <a:prstGeom prst="rect">
            <a:avLst/>
          </a:prstGeom>
          <a:noFill/>
        </p:spPr>
        <p:txBody>
          <a:bodyPr wrap="square" lIns="0" tIns="0">
            <a:spAutoFit/>
          </a:bodyPr>
          <a:lstStyle/>
          <a:p>
            <a:pPr>
              <a:spcAft>
                <a:spcPts val="400"/>
              </a:spcAft>
              <a:defRPr sz="1200" b="1">
                <a:solidFill>
                  <a:srgbClr val="0F121C"/>
                </a:solidFill>
                <a:latin typeface="Arial"/>
              </a:defRPr>
            </a:pPr>
            <a:r>
              <a:t>2. Operational Overhaul: Defeating SPOF &amp; Installation Friction</a:t>
            </a:r>
          </a:p>
          <a:p>
            <a:pPr>
              <a:spcAft>
                <a:spcPts val="300"/>
              </a:spcAft>
              <a:defRPr sz="900" b="0">
                <a:solidFill>
                  <a:srgbClr val="212121"/>
                </a:solidFill>
                <a:latin typeface="Calibri"/>
              </a:defRPr>
            </a:pPr>
            <a:r>
              <a:t>• Independent Network Failover: Countering the 'Single Point of Failure' fear by educating users that Fiber WiFi, Cellular Postpaid SIMs, and DTH satellite feeds run on physically separate grids. Xsafe cameras failover automatically to mobile hotspots during outages.</a:t>
            </a:r>
          </a:p>
          <a:p>
            <a:pPr>
              <a:spcAft>
                <a:spcPts val="300"/>
              </a:spcAft>
              <a:defRPr sz="900" b="0">
                <a:solidFill>
                  <a:srgbClr val="212121"/>
                </a:solidFill>
                <a:latin typeface="Calibri"/>
              </a:defRPr>
            </a:pPr>
            <a:r>
              <a:t>• Single-Visit Concierge Engineers: Eliminating installation dread by deploying a single engineering specialist who installs broadband fiber, activates TV boxes, mounts CCTV cameras, and ports family mobile numbers in a single visit.</a:t>
            </a:r>
          </a:p>
        </p:txBody>
      </p:sp>
      <p:sp>
        <p:nvSpPr>
          <p:cNvPr id="63" name="TextBox 62">
            <a:extLst>
              <a:ext uri="{FF2B5EF4-FFF2-40B4-BE49-F238E27FC236}">
                <a16:creationId xmlns:a16="http://schemas.microsoft.com/office/drawing/2014/main" id="{2D7E885B-553E-B240-24D7-F13E34D84DA2}"/>
              </a:ext>
            </a:extLst>
          </p:cNvPr>
          <p:cNvSpPr txBox="1"/>
          <p:nvPr/>
        </p:nvSpPr>
        <p:spPr>
          <a:xfrm>
            <a:off x="457200" y="3566160"/>
            <a:ext cx="8229600" cy="1188720"/>
          </a:xfrm>
          <a:prstGeom prst="rect">
            <a:avLst/>
          </a:prstGeom>
          <a:noFill/>
        </p:spPr>
        <p:txBody>
          <a:bodyPr wrap="square" lIns="0" tIns="0">
            <a:spAutoFit/>
          </a:bodyPr>
          <a:lstStyle/>
          <a:p>
            <a:pPr>
              <a:spcAft>
                <a:spcPts val="400"/>
              </a:spcAft>
              <a:defRPr sz="1200" b="1">
                <a:solidFill>
                  <a:srgbClr val="0F121C"/>
                </a:solidFill>
                <a:latin typeface="Arial"/>
              </a:defRPr>
            </a:pPr>
            <a:r>
              <a:t>3. Outbound Target Cohorts &amp; Field Force AI Enablement</a:t>
            </a:r>
          </a:p>
          <a:p>
            <a:pPr>
              <a:spcAft>
                <a:spcPts val="300"/>
              </a:spcAft>
              <a:defRPr sz="900" b="0">
                <a:solidFill>
                  <a:srgbClr val="212121"/>
                </a:solidFill>
                <a:latin typeface="Calibri"/>
              </a:defRPr>
            </a:pPr>
            <a:r>
              <a:t>• AI Customer Targeting: Leverage customer overlap data (Exhibit 4) to automatically run SMS &amp; app bundle upgrade prompts for the 2.5M overlapping Broadband+DTH users and the 16M DTH-only accounts.</a:t>
            </a:r>
          </a:p>
          <a:p>
            <a:pPr>
              <a:spcAft>
                <a:spcPts val="300"/>
              </a:spcAft>
              <a:defRPr sz="900" b="0">
                <a:solidFill>
                  <a:srgbClr val="212121"/>
                </a:solidFill>
                <a:latin typeface="Calibri"/>
              </a:defRPr>
            </a:pPr>
            <a:r>
              <a:t>• Service Engineer Enablement: Equipping the field technician mobile app with a predictive recommendation engine, prompting them to pitch security cameras (Xsafe) during regular maintenance visits (capturing the 12% low decay rate).</a:t>
            </a:r>
          </a:p>
        </p:txBody>
      </p:sp>
    </p:spTree>
    <p:extLst>
      <p:ext uri="{BB962C8B-B14F-4D97-AF65-F5344CB8AC3E}">
        <p14:creationId xmlns:p14="http://schemas.microsoft.com/office/powerpoint/2010/main" val="355609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24150" y="579597"/>
            <a:ext cx="8229600" cy="731520"/>
          </a:xfrm>
          <a:prstGeom prst="rect">
            <a:avLst/>
          </a:prstGeom>
          <a:noFill/>
        </p:spPr>
        <p:txBody>
          <a:bodyPr wrap="square" lIns="0" tIns="0">
            <a:spAutoFit/>
          </a:bodyPr>
          <a:lstStyle/>
          <a:p>
            <a:pPr>
              <a:defRPr sz="2100" b="1">
                <a:solidFill>
                  <a:srgbClr val="ED1D24"/>
                </a:solidFill>
                <a:latin typeface="Arial"/>
              </a:defRPr>
            </a:pPr>
            <a:r>
              <a:rPr dirty="0"/>
              <a:t>Annexure 1: Primary Research &amp; Conjoint Choice Cards</a:t>
            </a:r>
          </a:p>
        </p:txBody>
      </p:sp>
      <p:sp>
        <p:nvSpPr>
          <p:cNvPr id="5" name="TextBox 4"/>
          <p:cNvSpPr txBox="1"/>
          <p:nvPr/>
        </p:nvSpPr>
        <p:spPr>
          <a:xfrm>
            <a:off x="457200" y="1005840"/>
            <a:ext cx="3840480" cy="3657600"/>
          </a:xfrm>
          <a:prstGeom prst="rect">
            <a:avLst/>
          </a:prstGeom>
          <a:noFill/>
        </p:spPr>
        <p:txBody>
          <a:bodyPr wrap="square" lIns="0" tIns="0">
            <a:spAutoFit/>
          </a:bodyPr>
          <a:lstStyle/>
          <a:p>
            <a:pPr>
              <a:spcAft>
                <a:spcPts val="800"/>
              </a:spcAft>
              <a:defRPr sz="1300" b="1">
                <a:solidFill>
                  <a:srgbClr val="0F121C"/>
                </a:solidFill>
                <a:latin typeface="Arial"/>
              </a:defRPr>
            </a:pPr>
            <a:r>
              <a:t>Research Methodology &amp; Conjoint Analysis</a:t>
            </a:r>
          </a:p>
          <a:p>
            <a:pPr>
              <a:spcAft>
                <a:spcPts val="600"/>
              </a:spcAft>
              <a:defRPr sz="950" b="0">
                <a:solidFill>
                  <a:srgbClr val="212121"/>
                </a:solidFill>
                <a:latin typeface="Arial"/>
              </a:defRPr>
            </a:pPr>
            <a:r>
              <a:t>• Conjoint Setup: We deployed 4 binary choice questions directly comparing individual utilities vs. their bundled Altura Home counterparts (Choice Card Starter, Connect, Family Secure, and Infinite).</a:t>
            </a:r>
          </a:p>
          <a:p>
            <a:pPr>
              <a:spcAft>
                <a:spcPts val="600"/>
              </a:spcAft>
              <a:defRPr sz="950" b="0">
                <a:solidFill>
                  <a:srgbClr val="212121"/>
                </a:solidFill>
                <a:latin typeface="Arial"/>
              </a:defRPr>
            </a:pPr>
            <a:r>
              <a:t>• Goal: This Discrete Choice Conjoint Experiment isolates exactly where price sensitivity breaks and maps household utility values.</a:t>
            </a:r>
          </a:p>
          <a:p>
            <a:pPr>
              <a:spcAft>
                <a:spcPts val="600"/>
              </a:spcAft>
              <a:defRPr sz="950" b="0">
                <a:solidFill>
                  <a:srgbClr val="212121"/>
                </a:solidFill>
                <a:latin typeface="Arial"/>
              </a:defRPr>
            </a:pPr>
            <a:r>
              <a:t>• Quantifying SPOF: Our survey includes agree/disagree statements to map network reliability concerns and data privacy barriers.</a:t>
            </a:r>
          </a:p>
          <a:p>
            <a:pPr>
              <a:spcAft>
                <a:spcPts val="600"/>
              </a:spcAft>
              <a:defRPr sz="950" b="0">
                <a:solidFill>
                  <a:srgbClr val="212121"/>
                </a:solidFill>
                <a:latin typeface="Arial"/>
              </a:defRPr>
            </a:pPr>
            <a:r>
              <a:t>• Uploading Cards: The generated card graphics (pictured right) help respondents visually compare price-to-benefit ratios.</a:t>
            </a:r>
          </a:p>
        </p:txBody>
      </p:sp>
      <p:pic>
        <p:nvPicPr>
          <p:cNvPr id="6" name="Picture 5" descr="choice_card_family.jpg"/>
          <p:cNvPicPr>
            <a:picLocks noChangeAspect="1"/>
          </p:cNvPicPr>
          <p:nvPr/>
        </p:nvPicPr>
        <p:blipFill>
          <a:blip r:embed="rId3"/>
          <a:stretch>
            <a:fillRect/>
          </a:stretch>
        </p:blipFill>
        <p:spPr>
          <a:xfrm>
            <a:off x="4572000" y="1188720"/>
            <a:ext cx="4114800" cy="30861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57200" y="535971"/>
            <a:ext cx="8229600" cy="731520"/>
          </a:xfrm>
          <a:prstGeom prst="rect">
            <a:avLst/>
          </a:prstGeom>
          <a:noFill/>
        </p:spPr>
        <p:txBody>
          <a:bodyPr wrap="square" lIns="0" tIns="0">
            <a:spAutoFit/>
          </a:bodyPr>
          <a:lstStyle/>
          <a:p>
            <a:pPr>
              <a:defRPr sz="2100" b="1">
                <a:solidFill>
                  <a:srgbClr val="ED1D24"/>
                </a:solidFill>
                <a:latin typeface="Arial"/>
              </a:defRPr>
            </a:pPr>
            <a:r>
              <a:rPr dirty="0"/>
              <a:t>Annexure 2: Inbound Customer Portal &amp; </a:t>
            </a:r>
            <a:r>
              <a:rPr dirty="0" err="1"/>
              <a:t>AirBot</a:t>
            </a:r>
            <a:r>
              <a:rPr dirty="0"/>
              <a:t> Interface</a:t>
            </a:r>
          </a:p>
        </p:txBody>
      </p:sp>
      <p:sp>
        <p:nvSpPr>
          <p:cNvPr id="5" name="TextBox 4"/>
          <p:cNvSpPr txBox="1"/>
          <p:nvPr/>
        </p:nvSpPr>
        <p:spPr>
          <a:xfrm>
            <a:off x="457200" y="1005840"/>
            <a:ext cx="3840480" cy="3657600"/>
          </a:xfrm>
          <a:prstGeom prst="rect">
            <a:avLst/>
          </a:prstGeom>
          <a:noFill/>
        </p:spPr>
        <p:txBody>
          <a:bodyPr wrap="square" lIns="0" tIns="0">
            <a:spAutoFit/>
          </a:bodyPr>
          <a:lstStyle/>
          <a:p>
            <a:pPr>
              <a:spcAft>
                <a:spcPts val="800"/>
              </a:spcAft>
              <a:defRPr sz="1300" b="1">
                <a:solidFill>
                  <a:srgbClr val="0F121C"/>
                </a:solidFill>
                <a:latin typeface="Arial"/>
              </a:defRPr>
            </a:pPr>
            <a:r>
              <a:t>Digitizing the Onboarding Funnel</a:t>
            </a:r>
          </a:p>
          <a:p>
            <a:pPr>
              <a:spcAft>
                <a:spcPts val="600"/>
              </a:spcAft>
              <a:defRPr sz="950" b="0">
                <a:solidFill>
                  <a:srgbClr val="212121"/>
                </a:solidFill>
                <a:latin typeface="Arial"/>
              </a:defRPr>
            </a:pPr>
            <a:r>
              <a:t>• Website Re-architecting: Designed a premium tab-based structure instead of long scroll sheets, streamlining categories for different household priorities.</a:t>
            </a:r>
          </a:p>
          <a:p>
            <a:pPr>
              <a:spcAft>
                <a:spcPts val="600"/>
              </a:spcAft>
              <a:defRPr sz="950" b="0">
                <a:solidFill>
                  <a:srgbClr val="212121"/>
                </a:solidFill>
                <a:latin typeface="Arial"/>
              </a:defRPr>
            </a:pPr>
            <a:r>
              <a:t>• AirBot Integration: AirBot acts as a frictionless digital concierge. It replaces standard sales pitch dialogue with multi-select service checklists and contextual profiling.</a:t>
            </a:r>
          </a:p>
          <a:p>
            <a:pPr>
              <a:spcAft>
                <a:spcPts val="600"/>
              </a:spcAft>
              <a:defRPr sz="950" b="0">
                <a:solidFill>
                  <a:srgbClr val="212121"/>
                </a:solidFill>
                <a:latin typeface="Arial"/>
              </a:defRPr>
            </a:pPr>
            <a:r>
              <a:t>• Autopay &amp; Coin Loops: The online checkout dynamically demonstrates monthly savings (₹50 discount) and Thanks Coins loyalty accumulation to increase signup rates.</a:t>
            </a:r>
          </a:p>
        </p:txBody>
      </p:sp>
      <p:pic>
        <p:nvPicPr>
          <p:cNvPr id="6" name="Picture 5" descr="bundle_choice_card.jpg"/>
          <p:cNvPicPr>
            <a:picLocks noChangeAspect="1"/>
          </p:cNvPicPr>
          <p:nvPr/>
        </p:nvPicPr>
        <p:blipFill>
          <a:blip r:embed="rId3"/>
          <a:stretch>
            <a:fillRect/>
          </a:stretch>
        </p:blipFill>
        <p:spPr>
          <a:xfrm>
            <a:off x="4572000" y="1188720"/>
            <a:ext cx="4114800" cy="30861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57200" y="602550"/>
            <a:ext cx="8229600" cy="731520"/>
          </a:xfrm>
          <a:prstGeom prst="rect">
            <a:avLst/>
          </a:prstGeom>
          <a:noFill/>
        </p:spPr>
        <p:txBody>
          <a:bodyPr wrap="square" lIns="0" tIns="0">
            <a:spAutoFit/>
          </a:bodyPr>
          <a:lstStyle/>
          <a:p>
            <a:pPr>
              <a:defRPr sz="2100" b="1">
                <a:solidFill>
                  <a:srgbClr val="ED1D24"/>
                </a:solidFill>
                <a:latin typeface="Arial"/>
              </a:defRPr>
            </a:pPr>
            <a:r>
              <a:rPr dirty="0"/>
              <a:t>Annexure 3: Data-Driven Target Cohorts &amp; Economics</a:t>
            </a:r>
          </a:p>
        </p:txBody>
      </p:sp>
      <p:sp>
        <p:nvSpPr>
          <p:cNvPr id="5" name="TextBox 4"/>
          <p:cNvSpPr txBox="1"/>
          <p:nvPr/>
        </p:nvSpPr>
        <p:spPr>
          <a:xfrm>
            <a:off x="457200" y="1005840"/>
            <a:ext cx="8229600" cy="3657600"/>
          </a:xfrm>
          <a:prstGeom prst="rect">
            <a:avLst/>
          </a:prstGeom>
          <a:noFill/>
        </p:spPr>
        <p:txBody>
          <a:bodyPr wrap="square" lIns="0" tIns="0">
            <a:spAutoFit/>
          </a:bodyPr>
          <a:lstStyle/>
          <a:p>
            <a:pPr>
              <a:spcAft>
                <a:spcPts val="800"/>
              </a:spcAft>
              <a:defRPr sz="1300" b="1">
                <a:solidFill>
                  <a:srgbClr val="0F121C"/>
                </a:solidFill>
                <a:latin typeface="Arial"/>
              </a:defRPr>
            </a:pPr>
            <a:r>
              <a:t>AI-Targeted Cross-Sell Opportunities (Exhibits 4 &amp; 5)</a:t>
            </a:r>
          </a:p>
          <a:p>
            <a:pPr>
              <a:spcAft>
                <a:spcPts val="600"/>
              </a:spcAft>
              <a:defRPr sz="950" b="0">
                <a:solidFill>
                  <a:srgbClr val="212121"/>
                </a:solidFill>
                <a:latin typeface="Arial"/>
              </a:defRPr>
            </a:pPr>
            <a:r>
              <a:t>• Cohort A: High-Intent Overlaps (2.5M Users): Target the 2.5 million households subscribing to both Broadband and DTH. Since they are already double-billed, they represent low-hanging fruit for the 'Connect' or 'Family Secure' bundles.</a:t>
            </a:r>
          </a:p>
          <a:p>
            <a:pPr>
              <a:spcAft>
                <a:spcPts val="600"/>
              </a:spcAft>
              <a:defRPr sz="950" b="0">
                <a:solidFill>
                  <a:srgbClr val="212121"/>
                </a:solidFill>
                <a:latin typeface="Arial"/>
              </a:defRPr>
            </a:pPr>
            <a:r>
              <a:t>• Cohort B: DTH-Only Accounts (16M Users): DTH is expected to decline due to streaming (Exhibit 2). Transitioning these 16 million siloed accounts into converged Fiber+SIM+TV bundles saves them money while preventing DTH cord-cutting.</a:t>
            </a:r>
          </a:p>
          <a:p>
            <a:pPr>
              <a:spcAft>
                <a:spcPts val="600"/>
              </a:spcAft>
              <a:defRPr sz="950" b="0">
                <a:solidFill>
                  <a:srgbClr val="212121"/>
                </a:solidFill>
                <a:latin typeface="Arial"/>
              </a:defRPr>
            </a:pPr>
            <a:r>
              <a:t>• Channel Optimization: Digital channel CAC is 50% lower than direct sales (Broadband: ₹220 vs ₹450), but direct sales secure higher Month-4 retention. We route online AirBot leads directly to concierge field technicians to optimize conversion.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24150" y="602550"/>
            <a:ext cx="8229600" cy="731520"/>
          </a:xfrm>
          <a:prstGeom prst="rect">
            <a:avLst/>
          </a:prstGeom>
          <a:noFill/>
        </p:spPr>
        <p:txBody>
          <a:bodyPr wrap="square" lIns="0" tIns="0">
            <a:spAutoFit/>
          </a:bodyPr>
          <a:lstStyle/>
          <a:p>
            <a:pPr>
              <a:defRPr sz="2100" b="1">
                <a:solidFill>
                  <a:srgbClr val="ED1D24"/>
                </a:solidFill>
                <a:latin typeface="Arial"/>
              </a:defRPr>
            </a:pPr>
            <a:r>
              <a:t>Annexure 4: Bundle Pricing Model &amp; EBITDA Accretion</a:t>
            </a:r>
          </a:p>
        </p:txBody>
      </p:sp>
      <p:sp>
        <p:nvSpPr>
          <p:cNvPr id="5" name="TextBox 4"/>
          <p:cNvSpPr txBox="1"/>
          <p:nvPr/>
        </p:nvSpPr>
        <p:spPr>
          <a:xfrm>
            <a:off x="457200" y="1005840"/>
            <a:ext cx="8229600" cy="3657600"/>
          </a:xfrm>
          <a:prstGeom prst="rect">
            <a:avLst/>
          </a:prstGeom>
          <a:noFill/>
        </p:spPr>
        <p:txBody>
          <a:bodyPr wrap="square" lIns="0" tIns="0">
            <a:spAutoFit/>
          </a:bodyPr>
          <a:lstStyle/>
          <a:p>
            <a:pPr>
              <a:spcAft>
                <a:spcPts val="800"/>
              </a:spcAft>
              <a:defRPr sz="1300" b="1">
                <a:solidFill>
                  <a:srgbClr val="0F121C"/>
                </a:solidFill>
                <a:latin typeface="Arial"/>
              </a:defRPr>
            </a:pPr>
            <a:r>
              <a:t>Converged Pricing Sheets &amp; EBITDA Margins (Exhibits 1 &amp; 2)</a:t>
            </a:r>
          </a:p>
          <a:p>
            <a:pPr>
              <a:spcAft>
                <a:spcPts val="600"/>
              </a:spcAft>
              <a:defRPr sz="950" b="0">
                <a:solidFill>
                  <a:srgbClr val="212121"/>
                </a:solidFill>
                <a:latin typeface="Arial"/>
              </a:defRPr>
            </a:pPr>
            <a:r>
              <a:t>• Individual vs. Bundle Price Matrix:</a:t>
            </a:r>
          </a:p>
          <a:p>
            <a:pPr>
              <a:spcAft>
                <a:spcPts val="600"/>
              </a:spcAft>
              <a:defRPr sz="950" b="0">
                <a:solidFill>
                  <a:srgbClr val="212121"/>
                </a:solidFill>
                <a:latin typeface="Arial"/>
              </a:defRPr>
            </a:pPr>
            <a:r>
              <a:t>   - Standalone Sum: Broadband (₹599) + 2 SIMs (₹700) + Xstream Box (₹250) + Google One (₹209) + Xsafe CCTV (₹150) + Bank (₹99) = ₹2,006/mo.</a:t>
            </a:r>
          </a:p>
          <a:p>
            <a:pPr>
              <a:spcAft>
                <a:spcPts val="600"/>
              </a:spcAft>
              <a:defRPr sz="950" b="0">
                <a:solidFill>
                  <a:srgbClr val="212121"/>
                </a:solidFill>
                <a:latin typeface="Arial"/>
              </a:defRPr>
            </a:pPr>
            <a:r>
              <a:t>   - Consolidated Family Secure: ₹1,499/mo (Saves ₹507/mo or 25% discount). Promoted at ₹999/mo for the first 3 months to destroy switching inertia.</a:t>
            </a:r>
          </a:p>
          <a:p>
            <a:pPr>
              <a:spcAft>
                <a:spcPts val="600"/>
              </a:spcAft>
              <a:defRPr sz="950" b="0">
                <a:solidFill>
                  <a:srgbClr val="212121"/>
                </a:solidFill>
                <a:latin typeface="Arial"/>
              </a:defRPr>
            </a:pPr>
            <a:r>
              <a:t>• Margin Protection: Home Surveillance holds the highest EBITDA margin at 35% (Exhibit 1) and is growing at 35.7% CAGR (Exhibit 2). By bundling Xsafe cameras into Family Secure and Infinite tiers, we offset lower TV margins (12% EBITDA) and drive net margin expansion.</a:t>
            </a:r>
          </a:p>
          <a:p>
            <a:pPr>
              <a:spcAft>
                <a:spcPts val="600"/>
              </a:spcAft>
              <a:defRPr sz="950" b="0">
                <a:solidFill>
                  <a:srgbClr val="212121"/>
                </a:solidFill>
                <a:latin typeface="Arial"/>
              </a:defRPr>
            </a:pPr>
            <a:r>
              <a:t>• Retention Leverage: Reducing household churn from 22% down to 5% lifts customer lifetime value (LTV) by over 400%, easily amortizing the initial ₹999/mo introductory launch promo cost.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57200" y="182880"/>
            <a:ext cx="8229600" cy="731520"/>
          </a:xfrm>
          <a:prstGeom prst="rect">
            <a:avLst/>
          </a:prstGeom>
          <a:noFill/>
        </p:spPr>
        <p:txBody>
          <a:bodyPr wrap="square" lIns="0" tIns="0">
            <a:spAutoFit/>
          </a:bodyPr>
          <a:lstStyle/>
          <a:p>
            <a:pPr>
              <a:defRPr sz="2100" b="1">
                <a:solidFill>
                  <a:srgbClr val="ED1D24"/>
                </a:solidFill>
                <a:latin typeface="Calibri"/>
              </a:defRPr>
            </a:pPr>
            <a:r>
              <a:t>Altura Home: Inbound GTM Strategy &amp; Onboarding Platform</a:t>
            </a:r>
          </a:p>
        </p:txBody>
      </p:sp>
      <p:sp>
        <p:nvSpPr>
          <p:cNvPr id="5" name="TextBox 4"/>
          <p:cNvSpPr txBox="1"/>
          <p:nvPr/>
        </p:nvSpPr>
        <p:spPr>
          <a:xfrm>
            <a:off x="457200" y="1005840"/>
            <a:ext cx="3657600" cy="3840480"/>
          </a:xfrm>
          <a:prstGeom prst="rect">
            <a:avLst/>
          </a:prstGeom>
          <a:noFill/>
        </p:spPr>
        <p:txBody>
          <a:bodyPr wrap="square" lIns="0" tIns="0">
            <a:spAutoFit/>
          </a:bodyPr>
          <a:lstStyle/>
          <a:p>
            <a:pPr>
              <a:spcAft>
                <a:spcPts val="600"/>
              </a:spcAft>
              <a:defRPr sz="1300" b="1">
                <a:solidFill>
                  <a:srgbClr val="0F121C"/>
                </a:solidFill>
                <a:latin typeface="Calibri"/>
              </a:defRPr>
            </a:pPr>
            <a:r>
              <a:t>1. Inbound Strategy &amp; Pricing Psychology</a:t>
            </a:r>
          </a:p>
          <a:p>
            <a:pPr>
              <a:spcAft>
                <a:spcPts val="500"/>
              </a:spcAft>
              <a:defRPr sz="850" b="0">
                <a:solidFill>
                  <a:srgbClr val="212121"/>
                </a:solidFill>
                <a:latin typeface="Arial"/>
              </a:defRPr>
            </a:pPr>
            <a:r>
              <a:t>• Inbound Focus: Prioritize converting our existing 20 million active relationships (siloed accounts) to double wallet share, rather than high-CAC outbound acquisition.</a:t>
            </a:r>
          </a:p>
          <a:p>
            <a:pPr>
              <a:spcAft>
                <a:spcPts val="500"/>
              </a:spcAft>
              <a:defRPr sz="850" b="0">
                <a:solidFill>
                  <a:srgbClr val="212121"/>
                </a:solidFill>
                <a:latin typeface="Arial"/>
              </a:defRPr>
            </a:pPr>
            <a:r>
              <a:t>• 4 Bundle Portfolio: Altura Starter (₹499/mo), Altura Connect (₹999/mo), Family Secure (₹1,499/mo), and Altura Infinite (₹2,999/mo).</a:t>
            </a:r>
          </a:p>
          <a:p>
            <a:pPr>
              <a:spcAft>
                <a:spcPts val="500"/>
              </a:spcAft>
              <a:defRPr sz="850" b="0">
                <a:solidFill>
                  <a:srgbClr val="212121"/>
                </a:solidFill>
                <a:latin typeface="Arial"/>
              </a:defRPr>
            </a:pPr>
            <a:r>
              <a:t>• Bundle Psychology &amp; Habit Loop: We discounted the Family Secure bundle to ₹999/mo for the first 3 months, equating it to the price of the basic Connect bundle. Users choose the higher-tier plan due to price-equivalence. During the 3-month trial, they develop a habit around 100 Mbps fiber, smart TV, and Xsafe cameras. Post-trial, they continue at the ₹1,499/mo standard rate, lifting ARPU.</a:t>
            </a:r>
          </a:p>
          <a:p>
            <a:pPr>
              <a:spcAft>
                <a:spcPts val="500"/>
              </a:spcAft>
              <a:defRPr sz="850" b="0">
                <a:solidFill>
                  <a:srgbClr val="212121"/>
                </a:solidFill>
                <a:latin typeface="Arial"/>
              </a:defRPr>
            </a:pPr>
            <a:r>
              <a:t>• Outbound Note: Direct sales can utilize targeted SMS/App push to overlaps, but the core engine is inbound portal conversion.</a:t>
            </a:r>
          </a:p>
        </p:txBody>
      </p:sp>
      <p:pic>
        <p:nvPicPr>
          <p:cNvPr id="6" name="Picture 5" descr="screenshot_airbot.png"/>
          <p:cNvPicPr>
            <a:picLocks noChangeAspect="1"/>
          </p:cNvPicPr>
          <p:nvPr/>
        </p:nvPicPr>
        <p:blipFill>
          <a:blip r:embed="rId3"/>
          <a:stretch>
            <a:fillRect/>
          </a:stretch>
        </p:blipFill>
        <p:spPr>
          <a:xfrm>
            <a:off x="4389120" y="1005840"/>
            <a:ext cx="1005840" cy="1097280"/>
          </a:xfrm>
          <a:prstGeom prst="rect">
            <a:avLst/>
          </a:prstGeom>
        </p:spPr>
      </p:pic>
      <p:sp>
        <p:nvSpPr>
          <p:cNvPr id="7" name="TextBox 6"/>
          <p:cNvSpPr txBox="1"/>
          <p:nvPr/>
        </p:nvSpPr>
        <p:spPr>
          <a:xfrm>
            <a:off x="5486400" y="1005840"/>
            <a:ext cx="3200400" cy="1097280"/>
          </a:xfrm>
          <a:prstGeom prst="rect">
            <a:avLst/>
          </a:prstGeom>
          <a:noFill/>
        </p:spPr>
        <p:txBody>
          <a:bodyPr wrap="square" lIns="0" tIns="0">
            <a:spAutoFit/>
          </a:bodyPr>
          <a:lstStyle/>
          <a:p>
            <a:pPr>
              <a:spcAft>
                <a:spcPts val="200"/>
              </a:spcAft>
              <a:defRPr sz="1050" b="1">
                <a:solidFill>
                  <a:srgbClr val="0F121C"/>
                </a:solidFill>
                <a:latin typeface="Calibri"/>
              </a:defRPr>
            </a:pPr>
            <a:r>
              <a:t>AirBot AI Concierge</a:t>
            </a:r>
          </a:p>
          <a:p>
            <a:pPr>
              <a:defRPr sz="850" b="0">
                <a:solidFill>
                  <a:srgbClr val="212121"/>
                </a:solidFill>
                <a:latin typeface="Arial"/>
              </a:defRPr>
            </a:pPr>
            <a:r>
              <a:t>Our integrated AI assistant dynamically profiles household sizes and service priorities using multi-select checklist filters, routing users to optimal packages and reducing funnel drop-off.</a:t>
            </a:r>
          </a:p>
        </p:txBody>
      </p:sp>
      <p:pic>
        <p:nvPicPr>
          <p:cNvPr id="8" name="Picture 7" descr="screenshot_packages.png"/>
          <p:cNvPicPr>
            <a:picLocks noChangeAspect="1"/>
          </p:cNvPicPr>
          <p:nvPr/>
        </p:nvPicPr>
        <p:blipFill>
          <a:blip r:embed="rId4"/>
          <a:stretch>
            <a:fillRect/>
          </a:stretch>
        </p:blipFill>
        <p:spPr>
          <a:xfrm>
            <a:off x="4389120" y="2286000"/>
            <a:ext cx="1828800" cy="1033271"/>
          </a:xfrm>
          <a:prstGeom prst="rect">
            <a:avLst/>
          </a:prstGeom>
        </p:spPr>
      </p:pic>
      <p:sp>
        <p:nvSpPr>
          <p:cNvPr id="9" name="TextBox 8"/>
          <p:cNvSpPr txBox="1"/>
          <p:nvPr/>
        </p:nvSpPr>
        <p:spPr>
          <a:xfrm>
            <a:off x="6309360" y="2286000"/>
            <a:ext cx="2377440" cy="1033271"/>
          </a:xfrm>
          <a:prstGeom prst="rect">
            <a:avLst/>
          </a:prstGeom>
          <a:noFill/>
        </p:spPr>
        <p:txBody>
          <a:bodyPr wrap="square" lIns="0" tIns="0">
            <a:spAutoFit/>
          </a:bodyPr>
          <a:lstStyle/>
          <a:p>
            <a:pPr>
              <a:spcAft>
                <a:spcPts val="200"/>
              </a:spcAft>
              <a:defRPr sz="1050" b="1">
                <a:solidFill>
                  <a:srgbClr val="0F121C"/>
                </a:solidFill>
                <a:latin typeface="Calibri"/>
              </a:defRPr>
            </a:pPr>
            <a:r>
              <a:t>Transparent Plans &amp; Packages</a:t>
            </a:r>
          </a:p>
          <a:p>
            <a:pPr>
              <a:defRPr sz="850" b="0">
                <a:solidFill>
                  <a:srgbClr val="212121"/>
                </a:solidFill>
                <a:latin typeface="Arial"/>
              </a:defRPr>
            </a:pPr>
            <a:r>
              <a:t>Showcases pre-calculated tiers with clear highlight cards on the Family Secure ₹999/mo promo to trigger the price-equivalence purchase loop.</a:t>
            </a:r>
          </a:p>
        </p:txBody>
      </p:sp>
      <p:pic>
        <p:nvPicPr>
          <p:cNvPr id="10" name="Picture 9" descr="screenshot_customizer.png"/>
          <p:cNvPicPr>
            <a:picLocks noChangeAspect="1"/>
          </p:cNvPicPr>
          <p:nvPr/>
        </p:nvPicPr>
        <p:blipFill>
          <a:blip r:embed="rId5"/>
          <a:stretch>
            <a:fillRect/>
          </a:stretch>
        </p:blipFill>
        <p:spPr>
          <a:xfrm>
            <a:off x="4389120" y="3474720"/>
            <a:ext cx="1828800" cy="1033271"/>
          </a:xfrm>
          <a:prstGeom prst="rect">
            <a:avLst/>
          </a:prstGeom>
        </p:spPr>
      </p:pic>
      <p:sp>
        <p:nvSpPr>
          <p:cNvPr id="11" name="TextBox 10"/>
          <p:cNvSpPr txBox="1"/>
          <p:nvPr/>
        </p:nvSpPr>
        <p:spPr>
          <a:xfrm>
            <a:off x="6309360" y="3474720"/>
            <a:ext cx="2377440" cy="1033271"/>
          </a:xfrm>
          <a:prstGeom prst="rect">
            <a:avLst/>
          </a:prstGeom>
          <a:noFill/>
        </p:spPr>
        <p:txBody>
          <a:bodyPr wrap="square" lIns="0" tIns="0">
            <a:spAutoFit/>
          </a:bodyPr>
          <a:lstStyle/>
          <a:p>
            <a:pPr>
              <a:spcAft>
                <a:spcPts val="200"/>
              </a:spcAft>
              <a:defRPr sz="1050" b="1">
                <a:solidFill>
                  <a:srgbClr val="0F121C"/>
                </a:solidFill>
                <a:latin typeface="Calibri"/>
              </a:defRPr>
            </a:pPr>
            <a:r>
              <a:t>Build Your Custom Bundle</a:t>
            </a:r>
          </a:p>
          <a:p>
            <a:pPr>
              <a:defRPr sz="850" b="0">
                <a:solidFill>
                  <a:srgbClr val="212121"/>
                </a:solidFill>
                <a:latin typeface="Arial"/>
              </a:defRPr>
            </a:pPr>
            <a:r>
              <a:t>Replaces rigid plans. Users pick only what they use (Fiber speed, SIM count, Cameras) and calculate dynamic costs, eliminating the utility waste of unused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57200" y="182880"/>
            <a:ext cx="8229600" cy="731520"/>
          </a:xfrm>
          <a:prstGeom prst="rect">
            <a:avLst/>
          </a:prstGeom>
          <a:noFill/>
        </p:spPr>
        <p:txBody>
          <a:bodyPr wrap="square" lIns="0" tIns="0">
            <a:spAutoFit/>
          </a:bodyPr>
          <a:lstStyle/>
          <a:p>
            <a:pPr>
              <a:defRPr sz="2100" b="1">
                <a:solidFill>
                  <a:srgbClr val="ED1D24"/>
                </a:solidFill>
                <a:latin typeface="Calibri"/>
              </a:defRPr>
            </a:pPr>
            <a:r>
              <a:t>Annexure 1: Primary Research &amp; Conjoint Choice Cards</a:t>
            </a:r>
          </a:p>
        </p:txBody>
      </p:sp>
      <p:sp>
        <p:nvSpPr>
          <p:cNvPr id="5" name="TextBox 4"/>
          <p:cNvSpPr txBox="1"/>
          <p:nvPr/>
        </p:nvSpPr>
        <p:spPr>
          <a:xfrm>
            <a:off x="457200" y="1005840"/>
            <a:ext cx="3840480" cy="3657600"/>
          </a:xfrm>
          <a:prstGeom prst="rect">
            <a:avLst/>
          </a:prstGeom>
          <a:noFill/>
        </p:spPr>
        <p:txBody>
          <a:bodyPr wrap="square" lIns="0" tIns="0">
            <a:spAutoFit/>
          </a:bodyPr>
          <a:lstStyle/>
          <a:p>
            <a:pPr>
              <a:spcAft>
                <a:spcPts val="800"/>
              </a:spcAft>
              <a:defRPr sz="1300" b="1">
                <a:solidFill>
                  <a:srgbClr val="0F121C"/>
                </a:solidFill>
                <a:latin typeface="Calibri"/>
              </a:defRPr>
            </a:pPr>
            <a:r>
              <a:t>Research Methodology &amp; Conjoint Analysis</a:t>
            </a:r>
          </a:p>
          <a:p>
            <a:pPr>
              <a:spcAft>
                <a:spcPts val="600"/>
              </a:spcAft>
              <a:defRPr sz="950" b="0">
                <a:solidFill>
                  <a:srgbClr val="212121"/>
                </a:solidFill>
                <a:latin typeface="Arial"/>
              </a:defRPr>
            </a:pPr>
            <a:r>
              <a:t>• Conjoint Setup: We deployed 4 binary choice questions directly comparing individual utilities vs. their bundled Altura Home counterparts (Choice Card Starter, Connect, Family Secure, and Infinite).</a:t>
            </a:r>
          </a:p>
          <a:p>
            <a:pPr>
              <a:spcAft>
                <a:spcPts val="600"/>
              </a:spcAft>
              <a:defRPr sz="950" b="0">
                <a:solidFill>
                  <a:srgbClr val="212121"/>
                </a:solidFill>
                <a:latin typeface="Arial"/>
              </a:defRPr>
            </a:pPr>
            <a:r>
              <a:t>• Goal: This Discrete Choice Conjoint Experiment isolates exactly where price sensitivity breaks and maps household utility values.</a:t>
            </a:r>
          </a:p>
          <a:p>
            <a:pPr>
              <a:spcAft>
                <a:spcPts val="600"/>
              </a:spcAft>
              <a:defRPr sz="950" b="0">
                <a:solidFill>
                  <a:srgbClr val="212121"/>
                </a:solidFill>
                <a:latin typeface="Arial"/>
              </a:defRPr>
            </a:pPr>
            <a:r>
              <a:t>• Quantifying SPOF: Our survey includes agree/disagree statements to map network reliability concerns and data privacy barriers.</a:t>
            </a:r>
          </a:p>
          <a:p>
            <a:pPr>
              <a:spcAft>
                <a:spcPts val="600"/>
              </a:spcAft>
              <a:defRPr sz="950" b="0">
                <a:solidFill>
                  <a:srgbClr val="212121"/>
                </a:solidFill>
                <a:latin typeface="Arial"/>
              </a:defRPr>
            </a:pPr>
            <a:r>
              <a:t>• Uploading Cards: The generated card graphics (pictured right) help respondents visually compare price-to-benefit ratios.</a:t>
            </a:r>
          </a:p>
        </p:txBody>
      </p:sp>
      <p:pic>
        <p:nvPicPr>
          <p:cNvPr id="6" name="Picture 5" descr="image.jpg"/>
          <p:cNvPicPr>
            <a:picLocks noChangeAspect="1"/>
          </p:cNvPicPr>
          <p:nvPr/>
        </p:nvPicPr>
        <p:blipFill>
          <a:blip r:embed="rId3"/>
          <a:stretch>
            <a:fillRect/>
          </a:stretch>
        </p:blipFill>
        <p:spPr>
          <a:xfrm>
            <a:off x="4572000" y="1188720"/>
            <a:ext cx="4114800" cy="30861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57200" y="182880"/>
            <a:ext cx="8229600" cy="731520"/>
          </a:xfrm>
          <a:prstGeom prst="rect">
            <a:avLst/>
          </a:prstGeom>
          <a:noFill/>
        </p:spPr>
        <p:txBody>
          <a:bodyPr wrap="square" lIns="0" tIns="0">
            <a:spAutoFit/>
          </a:bodyPr>
          <a:lstStyle/>
          <a:p>
            <a:pPr>
              <a:defRPr sz="2100" b="1">
                <a:solidFill>
                  <a:srgbClr val="ED1D24"/>
                </a:solidFill>
                <a:latin typeface="Calibri"/>
              </a:defRPr>
            </a:pPr>
            <a:r>
              <a:t>Annexure 2: Inbound Customer Portal &amp; Choice Matrices</a:t>
            </a:r>
          </a:p>
        </p:txBody>
      </p:sp>
      <p:sp>
        <p:nvSpPr>
          <p:cNvPr id="5" name="TextBox 4"/>
          <p:cNvSpPr txBox="1"/>
          <p:nvPr/>
        </p:nvSpPr>
        <p:spPr>
          <a:xfrm>
            <a:off x="457200" y="1005840"/>
            <a:ext cx="3840480" cy="3657600"/>
          </a:xfrm>
          <a:prstGeom prst="rect">
            <a:avLst/>
          </a:prstGeom>
          <a:noFill/>
        </p:spPr>
        <p:txBody>
          <a:bodyPr wrap="square" lIns="0" tIns="0">
            <a:spAutoFit/>
          </a:bodyPr>
          <a:lstStyle/>
          <a:p>
            <a:pPr>
              <a:spcAft>
                <a:spcPts val="800"/>
              </a:spcAft>
              <a:defRPr sz="1300" b="1">
                <a:solidFill>
                  <a:srgbClr val="0F121C"/>
                </a:solidFill>
                <a:latin typeface="Calibri"/>
              </a:defRPr>
            </a:pPr>
            <a:r>
              <a:t>Digitizing the Onboarding Funnel</a:t>
            </a:r>
          </a:p>
          <a:p>
            <a:pPr>
              <a:spcAft>
                <a:spcPts val="600"/>
              </a:spcAft>
              <a:defRPr sz="950" b="0">
                <a:solidFill>
                  <a:srgbClr val="212121"/>
                </a:solidFill>
                <a:latin typeface="Arial"/>
              </a:defRPr>
            </a:pPr>
            <a:r>
              <a:t>• Website Re-architecting: Designed a premium tab-based structure instead of long scroll sheets, streamlining categories for different household priorities.</a:t>
            </a:r>
          </a:p>
          <a:p>
            <a:pPr>
              <a:spcAft>
                <a:spcPts val="600"/>
              </a:spcAft>
              <a:defRPr sz="950" b="0">
                <a:solidFill>
                  <a:srgbClr val="212121"/>
                </a:solidFill>
                <a:latin typeface="Arial"/>
              </a:defRPr>
            </a:pPr>
            <a:r>
              <a:t>• AirBot Integration: AirBot acts as a frictionless digital concierge. It replaces standard sales pitch dialogue with multi-select service checklists and contextual profiling.</a:t>
            </a:r>
          </a:p>
          <a:p>
            <a:pPr>
              <a:spcAft>
                <a:spcPts val="600"/>
              </a:spcAft>
              <a:defRPr sz="950" b="0">
                <a:solidFill>
                  <a:srgbClr val="212121"/>
                </a:solidFill>
                <a:latin typeface="Arial"/>
              </a:defRPr>
            </a:pPr>
            <a:r>
              <a:t>• Autopay &amp; Coin Loops: The online checkout dynamically demonstrates monthly savings (₹50 discount) and Thanks Coins loyalty accumulation to increase signup rates.</a:t>
            </a:r>
          </a:p>
        </p:txBody>
      </p:sp>
      <p:pic>
        <p:nvPicPr>
          <p:cNvPr id="6" name="Picture 5" descr="image.jpg"/>
          <p:cNvPicPr>
            <a:picLocks noChangeAspect="1"/>
          </p:cNvPicPr>
          <p:nvPr/>
        </p:nvPicPr>
        <p:blipFill>
          <a:blip r:embed="rId3"/>
          <a:stretch>
            <a:fillRect/>
          </a:stretch>
        </p:blipFill>
        <p:spPr>
          <a:xfrm>
            <a:off x="4572000" y="1188720"/>
            <a:ext cx="4114800" cy="30861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57200" y="182880"/>
            <a:ext cx="8229600" cy="731520"/>
          </a:xfrm>
          <a:prstGeom prst="rect">
            <a:avLst/>
          </a:prstGeom>
          <a:noFill/>
        </p:spPr>
        <p:txBody>
          <a:bodyPr wrap="square" lIns="0" tIns="0">
            <a:spAutoFit/>
          </a:bodyPr>
          <a:lstStyle/>
          <a:p>
            <a:pPr>
              <a:defRPr sz="2100" b="1">
                <a:solidFill>
                  <a:srgbClr val="ED1D24"/>
                </a:solidFill>
                <a:latin typeface="Calibri"/>
              </a:defRPr>
            </a:pPr>
            <a:r>
              <a:t>Annexure 3: Data-Driven Target Cohorts &amp; Economics</a:t>
            </a:r>
          </a:p>
        </p:txBody>
      </p:sp>
      <p:sp>
        <p:nvSpPr>
          <p:cNvPr id="5" name="TextBox 4"/>
          <p:cNvSpPr txBox="1"/>
          <p:nvPr/>
        </p:nvSpPr>
        <p:spPr>
          <a:xfrm>
            <a:off x="457200" y="1005840"/>
            <a:ext cx="8229600" cy="3657600"/>
          </a:xfrm>
          <a:prstGeom prst="rect">
            <a:avLst/>
          </a:prstGeom>
          <a:noFill/>
        </p:spPr>
        <p:txBody>
          <a:bodyPr wrap="square" lIns="0" tIns="0">
            <a:spAutoFit/>
          </a:bodyPr>
          <a:lstStyle/>
          <a:p>
            <a:pPr>
              <a:spcAft>
                <a:spcPts val="800"/>
              </a:spcAft>
              <a:defRPr sz="1300" b="1">
                <a:solidFill>
                  <a:srgbClr val="0F121C"/>
                </a:solidFill>
                <a:latin typeface="Calibri"/>
              </a:defRPr>
            </a:pPr>
            <a:r>
              <a:t>AI-Targeted Cross-Sell Opportunities (Exhibits 4 &amp; 5)</a:t>
            </a:r>
          </a:p>
          <a:p>
            <a:pPr>
              <a:spcAft>
                <a:spcPts val="600"/>
              </a:spcAft>
              <a:defRPr sz="950" b="0">
                <a:solidFill>
                  <a:srgbClr val="212121"/>
                </a:solidFill>
                <a:latin typeface="Arial"/>
              </a:defRPr>
            </a:pPr>
            <a:r>
              <a:t>• Cohort A: High-Intent Overlaps (2.5M Users): Target the 2.5 million households subscribing to both Broadband and DTH. Since they are already double-billed, they represent low-hanging fruit for the 'Connect' or 'Family Secure' bundles.</a:t>
            </a:r>
          </a:p>
          <a:p>
            <a:pPr>
              <a:spcAft>
                <a:spcPts val="600"/>
              </a:spcAft>
              <a:defRPr sz="950" b="0">
                <a:solidFill>
                  <a:srgbClr val="212121"/>
                </a:solidFill>
                <a:latin typeface="Arial"/>
              </a:defRPr>
            </a:pPr>
            <a:r>
              <a:t>• Cohort B: DTH-Only Accounts (16M Users): DTH is expected to decline due to streaming (Exhibit 2). Transitioning these 16 million siloed accounts into converged Fiber+SIM+TV bundles saves them money while preventing DTH cord-cutting.</a:t>
            </a:r>
          </a:p>
          <a:p>
            <a:pPr>
              <a:spcAft>
                <a:spcPts val="600"/>
              </a:spcAft>
              <a:defRPr sz="950" b="0">
                <a:solidFill>
                  <a:srgbClr val="212121"/>
                </a:solidFill>
                <a:latin typeface="Arial"/>
              </a:defRPr>
            </a:pPr>
            <a:r>
              <a:t>• Channel Optimization: Digital channel CAC is 50% lower than direct sales (Broadband: ₹220 vs ₹450), but direct sales secure higher Month-4 retention. We route online AirBot leads directly to concierge field technicians to optimize conversion.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pic>
        <p:nvPicPr>
          <p:cNvPr id="3" name="Picture 2" descr="image.jpg"/>
          <p:cNvPicPr>
            <a:picLocks noChangeAspect="1"/>
          </p:cNvPicPr>
          <p:nvPr/>
        </p:nvPicPr>
        <p:blipFill>
          <a:blip r:embed="rId2"/>
          <a:stretch>
            <a:fillRect/>
          </a:stretch>
        </p:blipFill>
        <p:spPr>
          <a:xfrm>
            <a:off x="1" y="0"/>
            <a:ext cx="9144000" cy="5143500"/>
          </a:xfrm>
          <a:prstGeom prst="rect">
            <a:avLst/>
          </a:prstGeom>
        </p:spPr>
      </p:pic>
      <p:sp>
        <p:nvSpPr>
          <p:cNvPr id="4" name="TextBox 3"/>
          <p:cNvSpPr txBox="1"/>
          <p:nvPr/>
        </p:nvSpPr>
        <p:spPr>
          <a:xfrm>
            <a:off x="457200" y="182880"/>
            <a:ext cx="8229600" cy="731520"/>
          </a:xfrm>
          <a:prstGeom prst="rect">
            <a:avLst/>
          </a:prstGeom>
          <a:noFill/>
        </p:spPr>
        <p:txBody>
          <a:bodyPr wrap="square" lIns="0" tIns="0">
            <a:spAutoFit/>
          </a:bodyPr>
          <a:lstStyle/>
          <a:p>
            <a:pPr>
              <a:defRPr sz="2100" b="1">
                <a:solidFill>
                  <a:srgbClr val="ED1D24"/>
                </a:solidFill>
                <a:latin typeface="Calibri"/>
              </a:defRPr>
            </a:pPr>
            <a:r>
              <a:t>Annexure 4: Bundle Pricing Model &amp; EBITDA Accretion</a:t>
            </a:r>
          </a:p>
        </p:txBody>
      </p:sp>
      <p:sp>
        <p:nvSpPr>
          <p:cNvPr id="5" name="TextBox 4"/>
          <p:cNvSpPr txBox="1"/>
          <p:nvPr/>
        </p:nvSpPr>
        <p:spPr>
          <a:xfrm>
            <a:off x="457200" y="1005840"/>
            <a:ext cx="8229600" cy="3657600"/>
          </a:xfrm>
          <a:prstGeom prst="rect">
            <a:avLst/>
          </a:prstGeom>
          <a:noFill/>
        </p:spPr>
        <p:txBody>
          <a:bodyPr wrap="square" lIns="0" tIns="0">
            <a:spAutoFit/>
          </a:bodyPr>
          <a:lstStyle/>
          <a:p>
            <a:pPr>
              <a:spcAft>
                <a:spcPts val="800"/>
              </a:spcAft>
              <a:defRPr sz="1300" b="1">
                <a:solidFill>
                  <a:srgbClr val="0F121C"/>
                </a:solidFill>
                <a:latin typeface="Calibri"/>
              </a:defRPr>
            </a:pPr>
            <a:r>
              <a:t>Converged Pricing Sheets &amp; EBITDA Margins (Exhibits 1 &amp; 2)</a:t>
            </a:r>
          </a:p>
          <a:p>
            <a:pPr>
              <a:spcAft>
                <a:spcPts val="600"/>
              </a:spcAft>
              <a:defRPr sz="950" b="0">
                <a:solidFill>
                  <a:srgbClr val="212121"/>
                </a:solidFill>
                <a:latin typeface="Arial"/>
              </a:defRPr>
            </a:pPr>
            <a:r>
              <a:t>• Individual vs. Bundle Price Matrix:</a:t>
            </a:r>
          </a:p>
          <a:p>
            <a:pPr>
              <a:spcAft>
                <a:spcPts val="600"/>
              </a:spcAft>
              <a:defRPr sz="950" b="0">
                <a:solidFill>
                  <a:srgbClr val="212121"/>
                </a:solidFill>
                <a:latin typeface="Arial"/>
              </a:defRPr>
            </a:pPr>
            <a:r>
              <a:t>   - Standalone Sum: Broadband (₹599) + 2 SIMs (₹700) + Xstream Box (₹250) + Google One (₹209) + Xsafe CCTV (₹150) + Bank (₹99) = ₹2,006/mo.</a:t>
            </a:r>
          </a:p>
          <a:p>
            <a:pPr>
              <a:spcAft>
                <a:spcPts val="600"/>
              </a:spcAft>
              <a:defRPr sz="950" b="0">
                <a:solidFill>
                  <a:srgbClr val="212121"/>
                </a:solidFill>
                <a:latin typeface="Arial"/>
              </a:defRPr>
            </a:pPr>
            <a:r>
              <a:t>   - Consolidated Family Secure: ₹1,499/mo (Saves ₹507/mo or 25% discount). Promoted at ₹999/mo for the first 3 months to destroy switching inertia.</a:t>
            </a:r>
          </a:p>
          <a:p>
            <a:pPr>
              <a:spcAft>
                <a:spcPts val="600"/>
              </a:spcAft>
              <a:defRPr sz="950" b="0">
                <a:solidFill>
                  <a:srgbClr val="212121"/>
                </a:solidFill>
                <a:latin typeface="Arial"/>
              </a:defRPr>
            </a:pPr>
            <a:r>
              <a:t>• Margin Protection: Home Surveillance holds the highest EBITDA margin at 35% (Exhibit 1) and is growing at 35.7% CAGR (Exhibit 2). By bundling Xsafe cameras into Family Secure and Infinite tiers, we offset lower TV margins (12% EBITDA) and drive net margin expansion.</a:t>
            </a:r>
          </a:p>
          <a:p>
            <a:pPr>
              <a:spcAft>
                <a:spcPts val="600"/>
              </a:spcAft>
              <a:defRPr sz="950" b="0">
                <a:solidFill>
                  <a:srgbClr val="212121"/>
                </a:solidFill>
                <a:latin typeface="Arial"/>
              </a:defRPr>
            </a:pPr>
            <a:r>
              <a:t>• Churn Leverage: Reducing household churn from 22% down to 5% lifts customer lifetime value (LTV) by over 400%, easily amortizing the initial ₹999/mo introductory launch promo cost.</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1222</Words>
  <Application>Microsoft Macintosh PowerPoint</Application>
  <PresentationFormat>On-screen Show (16:9)</PresentationFormat>
  <Paragraphs>53</Paragraphs>
  <Slides>7</Slides>
  <Notes>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NIKET PARIKH</cp:lastModifiedBy>
  <cp:revision>2</cp:revision>
  <dcterms:modified xsi:type="dcterms:W3CDTF">2026-07-18T12:38:04Z</dcterms:modified>
</cp:coreProperties>
</file>