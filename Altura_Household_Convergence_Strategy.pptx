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60" r:id="rId5"/>
    <p:sldId id="261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1"/>
  </p:normalViewPr>
  <p:slideViewPr>
    <p:cSldViewPr snapToGrid="0">
      <p:cViewPr varScale="1">
        <p:scale>
          <a:sx n="139" d="100"/>
          <a:sy n="139" d="100"/>
        </p:scale>
        <p:origin x="86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2dfdaf51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2dfdaf51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mission Template-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2025" y="-11025"/>
            <a:ext cx="9176376" cy="515452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TextBox 54"/>
          <p:cNvSpPr txBox="1"/>
          <p:nvPr/>
        </p:nvSpPr>
        <p:spPr>
          <a:xfrm>
            <a:off x="731520" y="1463040"/>
            <a:ext cx="7680960" cy="1371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ED1D24"/>
                </a:solidFill>
                <a:latin typeface="Calibri"/>
              </a:defRPr>
            </a:pPr>
            <a:r>
              <a:t>ALTURA COMMUNICATIONS</a:t>
            </a:r>
          </a:p>
          <a:p>
            <a:pPr>
              <a:defRPr sz="2400" b="1">
                <a:solidFill>
                  <a:srgbClr val="0F121C"/>
                </a:solidFill>
                <a:latin typeface="Calibri"/>
              </a:defRPr>
            </a:pPr>
            <a:r>
              <a:t>Connected Household Convergence Strategy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200" b="0">
                <a:solidFill>
                  <a:srgbClr val="212121"/>
                </a:solidFill>
                <a:latin typeface="Arial"/>
              </a:defRPr>
            </a:pPr>
            <a:r>
              <a:t>Maximizing Share of Wallet through Inbound Digital Platforms, Habit-Forming Bundle Pricing, Google One Storage, Autopay Incentives, and AI/ML Targeting.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0F121C"/>
                </a:solidFill>
                <a:latin typeface="Arial"/>
              </a:defRPr>
            </a:pPr>
            <a:r>
              <a:t>Case Competition Submission | 2026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Submission Template-0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TextBox 59"/>
          <p:cNvSpPr txBox="1"/>
          <p:nvPr/>
        </p:nvSpPr>
        <p:spPr>
          <a:xfrm>
            <a:off x="1097280" y="164592"/>
            <a:ext cx="6858000" cy="4114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defRPr sz="2400" b="1">
                <a:solidFill>
                  <a:srgbClr val="0F121C"/>
                </a:solidFill>
                <a:latin typeface="Calibri"/>
              </a:defRPr>
            </a:pPr>
            <a:r>
              <a:t>Diagnosing the Convergence Gap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" y="548640"/>
            <a:ext cx="685800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850" b="0">
                <a:solidFill>
                  <a:srgbClr val="ED1D24"/>
                </a:solidFill>
                <a:latin typeface="Arial"/>
              </a:defRPr>
            </a:pPr>
            <a:r>
              <a:t>Market, product portfolio, consumer psychology and competitive position - why Altura's households aren't consolidating, and what defends the business meanwhile.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9728" y="822960"/>
            <a:ext cx="68580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46304" y="896112"/>
            <a:ext cx="640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50" b="1">
                <a:solidFill>
                  <a:srgbClr val="787878"/>
                </a:solidFill>
                <a:latin typeface="Arial"/>
              </a:defRPr>
            </a:pPr>
            <a:r>
              <a:t>MARKET</a:t>
            </a:r>
            <a:br/>
            <a:r>
              <a:t>SNAPSHOT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" y="859536"/>
            <a:ext cx="13716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ED1D24"/>
                </a:solidFill>
                <a:latin typeface="Calibri"/>
              </a:defRPr>
            </a:pPr>
            <a:r>
              <a:t>👥 100 Mn+</a:t>
            </a:r>
          </a:p>
          <a:p>
            <a:pPr>
              <a:defRPr sz="580" b="0">
                <a:solidFill>
                  <a:srgbClr val="787878"/>
                </a:solidFill>
                <a:latin typeface="Arial"/>
              </a:defRPr>
            </a:pPr>
            <a:r>
              <a:t>High-value connected households in India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77440" y="859536"/>
            <a:ext cx="13716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ED1D24"/>
                </a:solidFill>
                <a:latin typeface="Calibri"/>
              </a:defRPr>
            </a:pPr>
            <a:r>
              <a:t>📈 ₹2.83 Lakh</a:t>
            </a:r>
          </a:p>
          <a:p>
            <a:pPr>
              <a:defRPr sz="580" b="0">
                <a:solidFill>
                  <a:srgbClr val="787878"/>
                </a:solidFill>
                <a:latin typeface="Arial"/>
              </a:defRPr>
            </a:pPr>
            <a:r>
              <a:t>Per-capita disposable income in India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86200" y="859536"/>
            <a:ext cx="13716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ED1D24"/>
                </a:solidFill>
                <a:latin typeface="Calibri"/>
              </a:defRPr>
            </a:pPr>
            <a:r>
              <a:t>📱 430 Mn</a:t>
            </a:r>
          </a:p>
          <a:p>
            <a:pPr>
              <a:defRPr sz="580" b="0">
                <a:solidFill>
                  <a:srgbClr val="787878"/>
                </a:solidFill>
                <a:latin typeface="Arial"/>
              </a:defRPr>
            </a:pPr>
            <a:r>
              <a:t>5G subscribers; ~1B data users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94960" y="859536"/>
            <a:ext cx="1463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ED1D24"/>
                </a:solidFill>
                <a:latin typeface="Calibri"/>
              </a:defRPr>
            </a:pPr>
            <a:r>
              <a:t>🪙 ₹194.57</a:t>
            </a:r>
          </a:p>
          <a:p>
            <a:pPr>
              <a:defRPr sz="580" b="0">
                <a:solidFill>
                  <a:srgbClr val="787878"/>
                </a:solidFill>
                <a:latin typeface="Arial"/>
              </a:defRPr>
            </a:pPr>
            <a:r>
              <a:t>Industry mobility ARPU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059168" y="822960"/>
            <a:ext cx="1975104" cy="438912"/>
          </a:xfrm>
          <a:prstGeom prst="roundRect">
            <a:avLst/>
          </a:prstGeom>
          <a:solidFill>
            <a:srgbClr val="ED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650" b="1">
                <a:solidFill>
                  <a:srgbClr val="FFFFFF"/>
                </a:solidFill>
                <a:latin typeface="Arial"/>
              </a:defRPr>
            </a:pPr>
            <a:r>
              <a:t>🎯 India is growing fast. Altura is built strong. But households still don't converge.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9728" y="1353312"/>
            <a:ext cx="28803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82880" y="1426464"/>
            <a:ext cx="164592" cy="164592"/>
          </a:xfrm>
          <a:prstGeom prst="rect">
            <a:avLst/>
          </a:prstGeom>
          <a:solidFill>
            <a:srgbClr val="ED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2336" y="1399032"/>
            <a:ext cx="2514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ED1D24"/>
                </a:solidFill>
                <a:latin typeface="Calibri"/>
              </a:defRPr>
            </a:pPr>
            <a:r>
              <a:t>Market Landscape &amp; Wallet Opportunity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2336" y="1572768"/>
            <a:ext cx="2514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0" i="1">
                <a:solidFill>
                  <a:srgbClr val="787878"/>
                </a:solidFill>
                <a:latin typeface="Arial"/>
              </a:defRPr>
            </a:pPr>
            <a:r>
              <a:t>Where category growth and captured wallet share diverge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2880" y="1737360"/>
            <a:ext cx="273405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650" b="0">
                <a:solidFill>
                  <a:srgbClr val="212121"/>
                </a:solidFill>
                <a:latin typeface="Arial"/>
              </a:defRPr>
            </a:pPr>
            <a:r>
              <a:t>• India: ₹2.83L per-capita disposable income, 430M 5G subscribers, ~1B data users; industry mobility ARPU ₹194.57</a:t>
            </a:r>
          </a:p>
          <a:p>
            <a:pPr>
              <a:spcAft>
                <a:spcPts val="200"/>
              </a:spcAft>
              <a:defRPr sz="650" b="0">
                <a:solidFill>
                  <a:srgbClr val="212121"/>
                </a:solidFill>
                <a:latin typeface="Arial"/>
              </a:defRPr>
            </a:pPr>
            <a:r>
              <a:t>• Altura already leads the industry on ARPU (+₹40 vs. nearest rival) - but prepaid mobility growth is flat and pricing is capped</a:t>
            </a:r>
          </a:p>
          <a:p>
            <a:pPr>
              <a:spcAft>
                <a:spcPts val="200"/>
              </a:spcAft>
              <a:defRPr sz="650" b="0">
                <a:solidFill>
                  <a:srgbClr val="212121"/>
                </a:solidFill>
                <a:latin typeface="Arial"/>
              </a:defRPr>
            </a:pPr>
            <a:r>
              <a:t>• Computed CAGR, FY24–27: Broadband +22%, Surveillance +36%, DTH -2% - fastest-growing lines are where Altura's wallet share is lowest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2880" y="2468880"/>
            <a:ext cx="777240" cy="100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600" b="0">
                <a:solidFill>
                  <a:srgbClr val="212121"/>
                </a:solidFill>
                <a:latin typeface="Arial"/>
              </a:defRPr>
            </a:pPr>
            <a:r>
              <a:t>Connectivity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5840" y="2496312"/>
            <a:ext cx="1371600" cy="3657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05840" y="2496312"/>
            <a:ext cx="480059" cy="36576"/>
          </a:xfrm>
          <a:prstGeom prst="rect">
            <a:avLst/>
          </a:prstGeom>
          <a:solidFill>
            <a:srgbClr val="ED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414016" y="2468880"/>
            <a:ext cx="365760" cy="100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600" b="1">
                <a:solidFill>
                  <a:srgbClr val="212121"/>
                </a:solidFill>
                <a:latin typeface="Arial"/>
              </a:defRPr>
            </a:pPr>
            <a:r>
              <a:t>35%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2880" y="2569464"/>
            <a:ext cx="777240" cy="100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600" b="0">
                <a:solidFill>
                  <a:srgbClr val="212121"/>
                </a:solidFill>
                <a:latin typeface="Arial"/>
              </a:defRPr>
            </a:pPr>
            <a:r>
              <a:t>Entertainment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5840" y="2596896"/>
            <a:ext cx="1371600" cy="3657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5840" y="2596896"/>
            <a:ext cx="164592" cy="36576"/>
          </a:xfrm>
          <a:prstGeom prst="rect">
            <a:avLst/>
          </a:prstGeom>
          <a:solidFill>
            <a:srgbClr val="ED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414016" y="2569464"/>
            <a:ext cx="365760" cy="100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600" b="1">
                <a:solidFill>
                  <a:srgbClr val="212121"/>
                </a:solidFill>
                <a:latin typeface="Arial"/>
              </a:defRPr>
            </a:pPr>
            <a:r>
              <a:t>12%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2670048"/>
            <a:ext cx="777240" cy="100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600" b="0">
                <a:solidFill>
                  <a:srgbClr val="212121"/>
                </a:solidFill>
                <a:latin typeface="Arial"/>
              </a:defRPr>
            </a:pPr>
            <a:r>
              <a:t>Home Security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05840" y="2697480"/>
            <a:ext cx="1371600" cy="3657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05840" y="2697480"/>
            <a:ext cx="27432" cy="36576"/>
          </a:xfrm>
          <a:prstGeom prst="rect">
            <a:avLst/>
          </a:prstGeom>
          <a:solidFill>
            <a:srgbClr val="ED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14016" y="2670048"/>
            <a:ext cx="365760" cy="100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600" b="1">
                <a:solidFill>
                  <a:srgbClr val="212121"/>
                </a:solidFill>
                <a:latin typeface="Arial"/>
              </a:defRPr>
            </a:pPr>
            <a:r>
              <a:t>2%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2880" y="2770632"/>
            <a:ext cx="777240" cy="100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600" b="0">
                <a:solidFill>
                  <a:srgbClr val="212121"/>
                </a:solidFill>
                <a:latin typeface="Arial"/>
              </a:defRPr>
            </a:pPr>
            <a:r>
              <a:t>Emerging Digital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05840" y="2798064"/>
            <a:ext cx="1371600" cy="3657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414016" y="2770632"/>
            <a:ext cx="365760" cy="100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600" b="1">
                <a:solidFill>
                  <a:srgbClr val="212121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82880" y="2871216"/>
            <a:ext cx="2734056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520" b="0" i="1">
                <a:solidFill>
                  <a:srgbClr val="787878"/>
                </a:solidFill>
                <a:latin typeface="Arial"/>
              </a:defRPr>
            </a:pPr>
            <a:r>
              <a:t>Src: Case intro; Exhibits 2 &amp; 3, CAGR computed FY24–27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090672" y="1353312"/>
            <a:ext cx="28803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163824" y="1426464"/>
            <a:ext cx="164592" cy="164592"/>
          </a:xfrm>
          <a:prstGeom prst="rect">
            <a:avLst/>
          </a:prstGeom>
          <a:solidFill>
            <a:srgbClr val="ED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83280" y="1399032"/>
            <a:ext cx="2514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ED1D24"/>
                </a:solidFill>
                <a:latin typeface="Calibri"/>
              </a:defRPr>
            </a:pPr>
            <a:r>
              <a:t>Product Portfolio Today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83280" y="1572768"/>
            <a:ext cx="2514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0" i="1">
                <a:solidFill>
                  <a:srgbClr val="787878"/>
                </a:solidFill>
                <a:latin typeface="Arial"/>
              </a:defRPr>
            </a:pPr>
            <a:r>
              <a:t>Five live product lines, sold and run in isolation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36392" y="1700784"/>
            <a:ext cx="53035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00" b="0">
                <a:solidFill>
                  <a:srgbClr val="ED1D24"/>
                </a:solidFill>
                <a:latin typeface="Arial"/>
              </a:defRPr>
            </a:pPr>
            <a:r>
              <a:t>📞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136392" y="1901952"/>
            <a:ext cx="53035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520" b="1">
                <a:solidFill>
                  <a:srgbClr val="212121"/>
                </a:solidFill>
                <a:latin typeface="Arial"/>
              </a:defRPr>
            </a:pPr>
            <a:r>
              <a:t>Mobility</a:t>
            </a:r>
            <a:br/>
            <a:r>
              <a:t>(prepaid +</a:t>
            </a:r>
            <a:br/>
            <a:r>
              <a:t>postpaid)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685032" y="1700784"/>
            <a:ext cx="53035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00" b="0">
                <a:solidFill>
                  <a:srgbClr val="ED1D24"/>
                </a:solidFill>
                <a:latin typeface="Arial"/>
              </a:defRPr>
            </a:pPr>
            <a:r>
              <a:t>📶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85032" y="1901952"/>
            <a:ext cx="53035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520" b="1">
                <a:solidFill>
                  <a:srgbClr val="212121"/>
                </a:solidFill>
                <a:latin typeface="Arial"/>
              </a:defRPr>
            </a:pPr>
            <a:r>
              <a:t>Broadband /</a:t>
            </a:r>
            <a:br/>
            <a:r>
              <a:t>WiFi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33672" y="1700784"/>
            <a:ext cx="53035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00" b="0">
                <a:solidFill>
                  <a:srgbClr val="ED1D24"/>
                </a:solidFill>
                <a:latin typeface="Arial"/>
              </a:defRPr>
            </a:pPr>
            <a:r>
              <a:t>📺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233672" y="1901952"/>
            <a:ext cx="53035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520" b="1">
                <a:solidFill>
                  <a:srgbClr val="212121"/>
                </a:solidFill>
                <a:latin typeface="Arial"/>
              </a:defRPr>
            </a:pPr>
            <a:r>
              <a:t>OTT +</a:t>
            </a:r>
            <a:br/>
            <a:r>
              <a:t>TV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782311" y="1700784"/>
            <a:ext cx="53035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00" b="0">
                <a:solidFill>
                  <a:srgbClr val="ED1D24"/>
                </a:solidFill>
                <a:latin typeface="Arial"/>
              </a:defRPr>
            </a:pPr>
            <a:r>
              <a:t>🛡️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782311" y="1901952"/>
            <a:ext cx="53035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520" b="1">
                <a:solidFill>
                  <a:srgbClr val="212121"/>
                </a:solidFill>
                <a:latin typeface="Arial"/>
              </a:defRPr>
            </a:pPr>
            <a:r>
              <a:t>Home</a:t>
            </a:r>
            <a:br/>
            <a:r>
              <a:t>Security</a:t>
            </a:r>
            <a:br/>
            <a:r>
              <a:t>(Xsafe)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30951" y="1700784"/>
            <a:ext cx="53035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00" b="0">
                <a:solidFill>
                  <a:srgbClr val="ED1D24"/>
                </a:solidFill>
                <a:latin typeface="Arial"/>
              </a:defRPr>
            </a:pPr>
            <a:r>
              <a:t>🏦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30951" y="1901952"/>
            <a:ext cx="53035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520" b="1">
                <a:solidFill>
                  <a:srgbClr val="212121"/>
                </a:solidFill>
                <a:latin typeface="Arial"/>
              </a:defRPr>
            </a:pPr>
            <a:r>
              <a:t>Payments</a:t>
            </a:r>
            <a:br/>
            <a:r>
              <a:t>Bank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163824" y="2194560"/>
            <a:ext cx="27340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650" b="0">
                <a:solidFill>
                  <a:srgbClr val="212121"/>
                </a:solidFill>
                <a:latin typeface="Arial"/>
              </a:defRPr>
            </a:pPr>
            <a:r>
              <a:t>• Each runs as an independent silo: separate sales teams, separate onboarding, separate billing</a:t>
            </a:r>
          </a:p>
          <a:p>
            <a:pPr>
              <a:spcAft>
                <a:spcPts val="200"/>
              </a:spcAft>
              <a:defRPr sz="650" b="0">
                <a:solidFill>
                  <a:srgbClr val="212121"/>
                </a:solidFill>
                <a:latin typeface="Arial"/>
              </a:defRPr>
            </a:pPr>
            <a:r>
              <a:t>• Channels: DTC (high-value, postpaid, ₹449 entry) · Distributor (mass-market, prepaid, ₹349) · Payments Bank (₹99) - each sells one product, rarely cross-sells</a:t>
            </a:r>
          </a:p>
          <a:p>
            <a:pPr>
              <a:spcAft>
                <a:spcPts val="200"/>
              </a:spcAft>
              <a:defRPr sz="650" b="0">
                <a:solidFill>
                  <a:srgbClr val="212121"/>
                </a:solidFill>
                <a:latin typeface="Arial"/>
              </a:defRPr>
            </a:pPr>
            <a:r>
              <a:t>• Only a fraction of Altura's ~100M high-value households hold more than one product today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163824" y="2871216"/>
            <a:ext cx="2734056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520" b="0" i="1">
                <a:solidFill>
                  <a:srgbClr val="787878"/>
                </a:solidFill>
                <a:latin typeface="Arial"/>
              </a:defRPr>
            </a:pPr>
            <a:r>
              <a:t>Src: Case Appendix 2, channel structure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071616" y="1353312"/>
            <a:ext cx="2962656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144768" y="1426464"/>
            <a:ext cx="164592" cy="164592"/>
          </a:xfrm>
          <a:prstGeom prst="rect">
            <a:avLst/>
          </a:prstGeom>
          <a:solidFill>
            <a:srgbClr val="ED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64224" y="1399032"/>
            <a:ext cx="259689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ED1D24"/>
                </a:solidFill>
                <a:latin typeface="Calibri"/>
              </a:defRPr>
            </a:pPr>
            <a:r>
              <a:t>Competitive Landscape &amp; Altura's Moat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64224" y="1572768"/>
            <a:ext cx="259689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0" i="1">
                <a:solidFill>
                  <a:srgbClr val="787878"/>
                </a:solidFill>
                <a:latin typeface="Arial"/>
              </a:defRPr>
            </a:pPr>
            <a:r>
              <a:t>Where Altura already wins, and what defends it</a:t>
            </a:r>
          </a:p>
        </p:txBody>
      </p:sp>
      <p:graphicFrame>
        <p:nvGraphicFramePr>
          <p:cNvPr id="110" name="Table 109"/>
          <p:cNvGraphicFramePr>
            <a:graphicFrameLocks noGrp="1"/>
          </p:cNvGraphicFramePr>
          <p:nvPr/>
        </p:nvGraphicFramePr>
        <p:xfrm>
          <a:off x="6126480" y="1700784"/>
          <a:ext cx="283464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548640"/>
                <a:gridCol w="640080"/>
                <a:gridCol w="640080"/>
              </a:tblGrid>
              <a:tr h="137160">
                <a:tc>
                  <a:txBody>
                    <a:bodyPr lIns="9144" rIns="9144" tIns="9144" bIns="9144"/>
                    <a:lstStyle/>
                    <a:p>
                      <a:pPr algn="l">
                        <a:defRPr sz="6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9144" rIns="9144" tIns="9144" bIns="9144"/>
                    <a:lstStyle/>
                    <a:p>
                      <a:pPr algn="ctr">
                        <a:defRPr sz="600" b="1">
                          <a:solidFill>
                            <a:srgbClr val="0F121C"/>
                          </a:solidFill>
                          <a:latin typeface="Arial"/>
                        </a:defRPr>
                      </a:pPr>
                      <a:r>
                        <a:t>Altura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9144" rIns="9144" tIns="9144" bIns="9144"/>
                    <a:lstStyle/>
                    <a:p>
                      <a:pPr algn="ctr">
                        <a:defRPr sz="6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Jio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9144" rIns="9144" tIns="9144" bIns="9144"/>
                    <a:lstStyle/>
                    <a:p>
                      <a:pPr algn="ctr">
                        <a:defRPr sz="6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VI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 lIns="9144" rIns="9144" tIns="9144" bIns="9144"/>
                    <a:lstStyle/>
                    <a:p>
                      <a:pPr algn="l">
                        <a:defRPr sz="6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ARPU (₹)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9144" rIns="9144" tIns="9144" bIns="9144"/>
                    <a:lstStyle/>
                    <a:p>
                      <a:pPr algn="ctr">
                        <a:defRPr sz="600" b="1">
                          <a:solidFill>
                            <a:srgbClr val="ED1D24"/>
                          </a:solidFill>
                          <a:latin typeface="Arial"/>
                        </a:defRPr>
                      </a:pPr>
                      <a:r>
                        <a:t>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9144" rIns="9144" tIns="9144" bIns="9144"/>
                    <a:lstStyle/>
                    <a:p>
                      <a:pPr algn="ctr">
                        <a:defRPr sz="6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9144" rIns="9144" tIns="9144" bIns="9144"/>
                    <a:lstStyle/>
                    <a:p>
                      <a:pPr algn="ctr">
                        <a:defRPr sz="6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 lIns="9144" rIns="9144" tIns="9144" bIns="9144"/>
                    <a:lstStyle/>
                    <a:p>
                      <a:pPr algn="l">
                        <a:defRPr sz="6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Subscribers (Mn)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9144" rIns="9144" tIns="9144" bIns="9144"/>
                    <a:lstStyle/>
                    <a:p>
                      <a:pPr algn="ctr">
                        <a:defRPr sz="600" b="1">
                          <a:solidFill>
                            <a:srgbClr val="ED1D24"/>
                          </a:solidFill>
                          <a:latin typeface="Arial"/>
                        </a:defRPr>
                      </a:pPr>
                      <a:r>
                        <a:t>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9144" rIns="9144" tIns="9144" bIns="9144"/>
                    <a:lstStyle/>
                    <a:p>
                      <a:pPr algn="ctr">
                        <a:defRPr sz="6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9144" rIns="9144" tIns="9144" bIns="9144"/>
                    <a:lstStyle/>
                    <a:p>
                      <a:pPr algn="ctr">
                        <a:defRPr sz="6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 lIns="9144" rIns="9144" tIns="9144" bIns="9144"/>
                    <a:lstStyle/>
                    <a:p>
                      <a:pPr algn="l">
                        <a:defRPr sz="6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Monthly churn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9144" rIns="9144" tIns="9144" bIns="9144"/>
                    <a:lstStyle/>
                    <a:p>
                      <a:pPr algn="ctr">
                        <a:defRPr sz="600" b="1">
                          <a:solidFill>
                            <a:srgbClr val="ED1D24"/>
                          </a:solidFill>
                          <a:latin typeface="Arial"/>
                        </a:defRPr>
                      </a:pPr>
                      <a:r>
                        <a:t>~2%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9144" rIns="9144" tIns="9144" bIns="9144"/>
                    <a:lstStyle/>
                    <a:p>
                      <a:pPr algn="ctr">
                        <a:defRPr sz="6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9144" rIns="9144" tIns="9144" bIns="9144"/>
                    <a:lstStyle/>
                    <a:p>
                      <a:pPr algn="ctr">
                        <a:defRPr sz="60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1" name="Rounded Rectangle 110"/>
          <p:cNvSpPr/>
          <p:nvPr/>
        </p:nvSpPr>
        <p:spPr>
          <a:xfrm>
            <a:off x="6144768" y="2286000"/>
            <a:ext cx="2816352" cy="548640"/>
          </a:xfrm>
          <a:prstGeom prst="roundRect">
            <a:avLst/>
          </a:prstGeom>
          <a:solidFill>
            <a:srgbClr val="FE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18288" bIns="18288"/>
          <a:lstStyle/>
          <a:p>
            <a:pPr algn="ctr">
              <a:defRPr sz="580" b="0">
                <a:solidFill>
                  <a:srgbClr val="212121"/>
                </a:solidFill>
                <a:latin typeface="Arial"/>
              </a:defRPr>
            </a:pPr>
            <a:r>
              <a:t>The Moat: not price - it's highest ARPU + a live multi-service footprint (mobility, broadband, DTH, security, banking) + an existing field-force relationship in millions of homes. Convergence turns that footprint into switching cost.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181344" y="2404872"/>
            <a:ext cx="219456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ED1D24"/>
                </a:solidFill>
                <a:latin typeface="Arial"/>
              </a:defRPr>
            </a:pPr>
            <a:r>
              <a:t>🛡️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144768" y="2871216"/>
            <a:ext cx="2734056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520" b="0" i="1">
                <a:solidFill>
                  <a:srgbClr val="787878"/>
                </a:solidFill>
                <a:latin typeface="Arial"/>
              </a:defRPr>
            </a:pPr>
            <a:r>
              <a:t>Src: Competitive Benchmark, Q4 FY26 disclosures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09728" y="3017520"/>
            <a:ext cx="28803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82880" y="3090672"/>
            <a:ext cx="164592" cy="164592"/>
          </a:xfrm>
          <a:prstGeom prst="rect">
            <a:avLst/>
          </a:prstGeom>
          <a:solidFill>
            <a:srgbClr val="ED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02336" y="3063240"/>
            <a:ext cx="2514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ED1D24"/>
                </a:solidFill>
                <a:latin typeface="Calibri"/>
              </a:defRPr>
            </a:pPr>
            <a:r>
              <a:t>Core Problems I: Structural Barriers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02336" y="3236976"/>
            <a:ext cx="2514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0" i="1">
                <a:solidFill>
                  <a:srgbClr val="787878"/>
                </a:solidFill>
                <a:latin typeface="Arial"/>
              </a:defRPr>
            </a:pPr>
            <a:r>
              <a:t>From secondary research - what the case data shows is broken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2880" y="3383280"/>
            <a:ext cx="273405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620" b="1">
                <a:solidFill>
                  <a:srgbClr val="ED1D24"/>
                </a:solidFill>
                <a:latin typeface="Arial"/>
              </a:defRPr>
            </a:pPr>
            <a:r>
              <a:t>📉 ① </a:t>
            </a:r>
            <a:r>
              <a:rPr sz="620" b="1">
                <a:solidFill>
                  <a:srgbClr val="212121"/>
                </a:solidFill>
                <a:latin typeface="Arial"/>
              </a:rPr>
              <a:t>Saturated prepaid mobility -</a:t>
            </a:r>
            <a:r>
              <a:rPr sz="620" b="0">
                <a:solidFill>
                  <a:srgbClr val="212121"/>
                </a:solidFill>
                <a:latin typeface="Arial"/>
              </a:rPr>
              <a:t> Flat subscriber growth, pricing power constrained</a:t>
            </a:r>
          </a:p>
          <a:p>
            <a:pPr>
              <a:spcAft>
                <a:spcPts val="200"/>
              </a:spcAft>
              <a:defRPr sz="620" b="1">
                <a:solidFill>
                  <a:srgbClr val="ED1D24"/>
                </a:solidFill>
                <a:latin typeface="Arial"/>
              </a:defRPr>
            </a:pPr>
            <a:r>
              <a:t>👥 ② </a:t>
            </a:r>
            <a:r>
              <a:rPr sz="620" b="1">
                <a:solidFill>
                  <a:srgbClr val="212121"/>
                </a:solidFill>
                <a:latin typeface="Arial"/>
              </a:rPr>
              <a:t>Independent product silos -</a:t>
            </a:r>
            <a:r>
              <a:rPr sz="620" b="0">
                <a:solidFill>
                  <a:srgbClr val="212121"/>
                </a:solidFill>
                <a:latin typeface="Arial"/>
              </a:rPr>
              <a:t> Disjointed onboarding, missed cross-sell</a:t>
            </a:r>
          </a:p>
          <a:p>
            <a:pPr>
              <a:spcAft>
                <a:spcPts val="200"/>
              </a:spcAft>
              <a:defRPr sz="620" b="1">
                <a:solidFill>
                  <a:srgbClr val="ED1D24"/>
                </a:solidFill>
                <a:latin typeface="Arial"/>
              </a:defRPr>
            </a:pPr>
            <a:r>
              <a:t>🔄 ③ </a:t>
            </a:r>
            <a:r>
              <a:rPr sz="620" b="1">
                <a:solidFill>
                  <a:srgbClr val="212121"/>
                </a:solidFill>
                <a:latin typeface="Arial"/>
              </a:rPr>
              <a:t>Single-product churn drain -</a:t>
            </a:r>
            <a:r>
              <a:rPr sz="620" b="0">
                <a:solidFill>
                  <a:srgbClr val="212121"/>
                </a:solidFill>
                <a:latin typeface="Arial"/>
              </a:rPr>
              <a:t> 22% annual churn vs. 5% for 3+ bundled services</a:t>
            </a:r>
          </a:p>
          <a:p>
            <a:pPr>
              <a:spcAft>
                <a:spcPts val="200"/>
              </a:spcAft>
              <a:defRPr sz="620" b="1">
                <a:solidFill>
                  <a:srgbClr val="ED1D24"/>
                </a:solidFill>
                <a:latin typeface="Arial"/>
              </a:defRPr>
            </a:pPr>
            <a:r>
              <a:t>📺 ④ </a:t>
            </a:r>
            <a:r>
              <a:rPr sz="620" b="1">
                <a:solidFill>
                  <a:srgbClr val="212121"/>
                </a:solidFill>
                <a:latin typeface="Arial"/>
              </a:rPr>
              <a:t>DTH revenue contracting -</a:t>
            </a:r>
            <a:r>
              <a:rPr sz="620" b="0">
                <a:solidFill>
                  <a:srgbClr val="212121"/>
                </a:solidFill>
                <a:latin typeface="Arial"/>
              </a:rPr>
              <a:t> ₹2,520 Cr (FY20) → ₹2,350 Cr (FY24) as OTT grows</a:t>
            </a:r>
          </a:p>
          <a:p>
            <a:pPr>
              <a:spcAft>
                <a:spcPts val="200"/>
              </a:spcAft>
              <a:defRPr sz="620" b="1">
                <a:solidFill>
                  <a:srgbClr val="ED1D24"/>
                </a:solidFill>
                <a:latin typeface="Arial"/>
              </a:defRPr>
            </a:pPr>
            <a:r>
              <a:t>🔧 ⑤ </a:t>
            </a:r>
            <a:r>
              <a:rPr sz="620" b="1">
                <a:solidFill>
                  <a:srgbClr val="212121"/>
                </a:solidFill>
                <a:latin typeface="Arial"/>
              </a:rPr>
              <a:t>Field force under-used -</a:t>
            </a:r>
            <a:r>
              <a:rPr sz="620" b="0">
                <a:solidFill>
                  <a:srgbClr val="212121"/>
                </a:solidFill>
                <a:latin typeface="Arial"/>
              </a:rPr>
              <a:t> Lowest decay (12–25%) of any channel, no cross-sell mandate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82880" y="4517136"/>
            <a:ext cx="2734056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520" b="0" i="1">
                <a:solidFill>
                  <a:srgbClr val="787878"/>
                </a:solidFill>
                <a:latin typeface="Arial"/>
              </a:defRPr>
            </a:pPr>
            <a:r>
              <a:t>Src: Case pp.2–3; Exhibits 1, 2, 4 &amp; 5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090672" y="3017520"/>
            <a:ext cx="28803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163824" y="3090672"/>
            <a:ext cx="164592" cy="164592"/>
          </a:xfrm>
          <a:prstGeom prst="rect">
            <a:avLst/>
          </a:prstGeom>
          <a:solidFill>
            <a:srgbClr val="ED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83280" y="3063240"/>
            <a:ext cx="2514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ED1D24"/>
                </a:solidFill>
                <a:latin typeface="Calibri"/>
              </a:defRPr>
            </a:pPr>
            <a:r>
              <a:t>Core Problems II: Psychological Barriers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383280" y="3236976"/>
            <a:ext cx="2514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0" i="1">
                <a:solidFill>
                  <a:srgbClr val="787878"/>
                </a:solidFill>
                <a:latin typeface="Arial"/>
              </a:defRPr>
            </a:pPr>
            <a:r>
              <a:t>From primary research - why households resist consolidating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163824" y="3383280"/>
            <a:ext cx="273405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620" b="1">
                <a:solidFill>
                  <a:srgbClr val="ED1D24"/>
                </a:solidFill>
                <a:latin typeface="Arial"/>
              </a:defRPr>
            </a:pPr>
            <a:r>
              <a:t>⚠️ </a:t>
            </a:r>
            <a:r>
              <a:rPr sz="620" b="1">
                <a:solidFill>
                  <a:srgbClr val="212121"/>
                </a:solidFill>
                <a:latin typeface="Arial"/>
              </a:rPr>
              <a:t>SPOF anxiety:</a:t>
            </a:r>
            <a:r>
              <a:rPr sz="620" b="0">
                <a:solidFill>
                  <a:srgbClr val="212121"/>
                </a:solidFill>
                <a:latin typeface="Arial"/>
              </a:rPr>
              <a:t> 60%+ fear one outage kills fibre + mobile + TV together</a:t>
            </a:r>
          </a:p>
          <a:p>
            <a:pPr>
              <a:spcAft>
                <a:spcPts val="200"/>
              </a:spcAft>
              <a:defRPr sz="620" b="1">
                <a:solidFill>
                  <a:srgbClr val="ED1D24"/>
                </a:solidFill>
                <a:latin typeface="Arial"/>
              </a:defRPr>
            </a:pPr>
            <a:r>
              <a:t>📶 </a:t>
            </a:r>
            <a:r>
              <a:rPr sz="620" b="1">
                <a:solidFill>
                  <a:srgbClr val="212121"/>
                </a:solidFill>
                <a:latin typeface="Arial"/>
              </a:rPr>
              <a:t>Migration dread:</a:t>
            </a:r>
            <a:r>
              <a:rPr sz="620" b="0">
                <a:solidFill>
                  <a:srgbClr val="212121"/>
                </a:solidFill>
                <a:latin typeface="Arial"/>
              </a:rPr>
              <a:t> Porting SIMs, installing router/TV-box/cameras, coordinating setup dates</a:t>
            </a:r>
          </a:p>
          <a:p>
            <a:pPr>
              <a:spcAft>
                <a:spcPts val="200"/>
              </a:spcAft>
              <a:defRPr sz="620" b="1">
                <a:solidFill>
                  <a:srgbClr val="ED1D24"/>
                </a:solidFill>
                <a:latin typeface="Arial"/>
              </a:defRPr>
            </a:pPr>
            <a:r>
              <a:t>🪙 </a:t>
            </a:r>
            <a:r>
              <a:rPr sz="620" b="1">
                <a:solidFill>
                  <a:srgbClr val="212121"/>
                </a:solidFill>
                <a:latin typeface="Arial"/>
              </a:rPr>
              <a:t>Utility-arbitrage bias:</a:t>
            </a:r>
            <a:r>
              <a:rPr sz="620" b="0">
                <a:solidFill>
                  <a:srgbClr val="212121"/>
                </a:solidFill>
                <a:latin typeface="Arial"/>
              </a:rPr>
              <a:t> Belief that separate "cheap" services beat a bundle - ignoring hidden fees (₹2,006 standalone vs. ₹999 bundle promo)</a:t>
            </a:r>
          </a:p>
          <a:p>
            <a:pPr>
              <a:spcAft>
                <a:spcPts val="200"/>
              </a:spcAft>
              <a:defRPr sz="620" b="1">
                <a:solidFill>
                  <a:srgbClr val="ED1D24"/>
                </a:solidFill>
                <a:latin typeface="Arial"/>
              </a:defRPr>
            </a:pPr>
            <a:r>
              <a:t>📷 </a:t>
            </a:r>
            <a:r>
              <a:rPr sz="620" b="1">
                <a:solidFill>
                  <a:srgbClr val="212121"/>
                </a:solidFill>
                <a:latin typeface="Arial"/>
              </a:rPr>
              <a:t>Security-camera trust gap:</a:t>
            </a:r>
            <a:r>
              <a:rPr sz="620" b="0">
                <a:solidFill>
                  <a:srgbClr val="212121"/>
                </a:solidFill>
                <a:latin typeface="Arial"/>
              </a:rPr>
              <a:t> Only 2% wallet share - no confidence in unbranded CCTV cloud backup or apps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163824" y="4517136"/>
            <a:ext cx="2734056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520" b="0" i="1">
                <a:solidFill>
                  <a:srgbClr val="787878"/>
                </a:solidFill>
                <a:latin typeface="Arial"/>
              </a:defRPr>
            </a:pPr>
            <a:r>
              <a:t>Src: Primary consumer survey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071616" y="3017520"/>
            <a:ext cx="2962656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144768" y="3090672"/>
            <a:ext cx="164592" cy="164592"/>
          </a:xfrm>
          <a:prstGeom prst="rect">
            <a:avLst/>
          </a:prstGeom>
          <a:solidFill>
            <a:srgbClr val="ED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364224" y="3063240"/>
            <a:ext cx="259689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ED1D24"/>
                </a:solidFill>
                <a:latin typeface="Calibri"/>
              </a:defRPr>
            </a:pPr>
            <a:r>
              <a:t>Personas &amp; Behavioural Triggers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364224" y="3236976"/>
            <a:ext cx="259689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0" i="1">
                <a:solidFill>
                  <a:srgbClr val="787878"/>
                </a:solidFill>
                <a:latin typeface="Arial"/>
              </a:defRPr>
            </a:pPr>
            <a:r>
              <a:t>Three households, three different reasons to say no</a:t>
            </a:r>
          </a:p>
        </p:txBody>
      </p:sp>
      <p:sp>
        <p:nvSpPr>
          <p:cNvPr id="130" name="Oval 129"/>
          <p:cNvSpPr/>
          <p:nvPr/>
        </p:nvSpPr>
        <p:spPr>
          <a:xfrm>
            <a:off x="6144768" y="340156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1D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750" b="1">
                <a:solidFill>
                  <a:srgbClr val="ED1D24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00800" y="33832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20" b="1">
                <a:solidFill>
                  <a:srgbClr val="212121"/>
                </a:solidFill>
                <a:latin typeface="Arial"/>
              </a:defRPr>
            </a:pPr>
            <a:r>
              <a:t>REVA · 34 · Metro · High-Value · DTC channel</a:t>
            </a:r>
          </a:p>
          <a:p>
            <a:pPr>
              <a:defRPr sz="620" b="0" i="1">
                <a:solidFill>
                  <a:srgbClr val="212121"/>
                </a:solidFill>
                <a:latin typeface="Arial"/>
              </a:defRPr>
            </a:pPr>
            <a:r>
              <a:t>"I'll pay for one relationship if it won't go dark."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723376" y="3401568"/>
            <a:ext cx="21945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00" b="0">
                <a:solidFill>
                  <a:srgbClr val="787878"/>
                </a:solidFill>
                <a:latin typeface="Arial"/>
              </a:defRPr>
            </a:pPr>
            <a:r>
              <a:t>👥</a:t>
            </a:r>
          </a:p>
        </p:txBody>
      </p:sp>
      <p:sp>
        <p:nvSpPr>
          <p:cNvPr id="133" name="Oval 132"/>
          <p:cNvSpPr/>
          <p:nvPr/>
        </p:nvSpPr>
        <p:spPr>
          <a:xfrm>
            <a:off x="6144768" y="376732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1D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750" b="1">
                <a:solidFill>
                  <a:srgbClr val="ED1D24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400800" y="374904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20" b="1">
                <a:solidFill>
                  <a:srgbClr val="212121"/>
                </a:solidFill>
                <a:latin typeface="Arial"/>
              </a:defRPr>
            </a:pPr>
            <a:r>
              <a:t>SURESH · 41 · Semi-Urban · Distributor channel</a:t>
            </a:r>
          </a:p>
          <a:p>
            <a:pPr>
              <a:defRPr sz="620" b="0" i="1">
                <a:solidFill>
                  <a:srgbClr val="212121"/>
                </a:solidFill>
                <a:latin typeface="Arial"/>
              </a:defRPr>
            </a:pPr>
            <a:r>
              <a:t>"Show me the saving in rupees, not a percentage."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723376" y="3767328"/>
            <a:ext cx="21945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00" b="0">
                <a:solidFill>
                  <a:srgbClr val="787878"/>
                </a:solidFill>
                <a:latin typeface="Arial"/>
              </a:defRPr>
            </a:pPr>
            <a:r>
              <a:t>🏪</a:t>
            </a:r>
          </a:p>
        </p:txBody>
      </p:sp>
      <p:sp>
        <p:nvSpPr>
          <p:cNvPr id="136" name="Oval 135"/>
          <p:cNvSpPr/>
          <p:nvPr/>
        </p:nvSpPr>
        <p:spPr>
          <a:xfrm>
            <a:off x="6144768" y="413308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1D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750" b="1">
                <a:solidFill>
                  <a:srgbClr val="ED1D24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400800" y="411480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20" b="1">
                <a:solidFill>
                  <a:srgbClr val="212121"/>
                </a:solidFill>
                <a:latin typeface="Arial"/>
              </a:defRPr>
            </a:pPr>
            <a:r>
              <a:t>ANIKA · 24 · Metro · Digital-first, prepaid</a:t>
            </a:r>
          </a:p>
          <a:p>
            <a:pPr>
              <a:defRPr sz="620" b="0" i="1">
                <a:solidFill>
                  <a:srgbClr val="212121"/>
                </a:solidFill>
                <a:latin typeface="Arial"/>
              </a:defRPr>
            </a:pPr>
            <a:r>
              <a:t>"I compare four apps before I commit to one."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723376" y="4133088"/>
            <a:ext cx="21945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00" b="0">
                <a:solidFill>
                  <a:srgbClr val="787878"/>
                </a:solidFill>
                <a:latin typeface="Arial"/>
              </a:defRPr>
            </a:pPr>
            <a:r>
              <a:t>📱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144768" y="4517136"/>
            <a:ext cx="2734056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520" b="0" i="1">
                <a:solidFill>
                  <a:srgbClr val="787878"/>
                </a:solidFill>
                <a:latin typeface="Arial"/>
              </a:defRPr>
            </a:pPr>
            <a:r>
              <a:t>Src: synthesised from Appendix 2 + primary survey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4150" y="579597"/>
            <a:ext cx="82296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ED1D24"/>
                </a:solidFill>
                <a:latin typeface="Arial"/>
              </a:defRPr>
            </a:pPr>
            <a:r>
              <a:rPr dirty="0"/>
              <a:t>Annexure 1: Primary Research &amp; Conjoint Choice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84048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21C"/>
                </a:solidFill>
                <a:latin typeface="Arial"/>
              </a:defRPr>
            </a:pPr>
            <a:r>
              <a:t>Research Methodology &amp; Conjoint Analysis</a:t>
            </a:r>
          </a:p>
          <a:p>
            <a:pPr>
              <a:spcAft>
                <a:spcPts val="600"/>
              </a:spcAft>
              <a:defRPr sz="950" b="0">
                <a:solidFill>
                  <a:srgbClr val="212121"/>
                </a:solidFill>
                <a:latin typeface="Arial"/>
              </a:defRPr>
            </a:pPr>
            <a:r>
              <a:t>• Conjoint Setup: We deployed 4 binary choice questions directly comparing individual utilities vs. their bundled Altura Home counterparts (Choice Card Starter, Connect, Family Secure, and Infinite).</a:t>
            </a:r>
          </a:p>
          <a:p>
            <a:pPr>
              <a:spcAft>
                <a:spcPts val="600"/>
              </a:spcAft>
              <a:defRPr sz="950" b="0">
                <a:solidFill>
                  <a:srgbClr val="212121"/>
                </a:solidFill>
                <a:latin typeface="Arial"/>
              </a:defRPr>
            </a:pPr>
            <a:r>
              <a:t>• Goal: This Discrete Choice Conjoint Experiment isolates exactly where price sensitivity breaks and maps household utility values.</a:t>
            </a:r>
          </a:p>
          <a:p>
            <a:pPr>
              <a:spcAft>
                <a:spcPts val="600"/>
              </a:spcAft>
              <a:defRPr sz="950" b="0">
                <a:solidFill>
                  <a:srgbClr val="212121"/>
                </a:solidFill>
                <a:latin typeface="Arial"/>
              </a:defRPr>
            </a:pPr>
            <a:r>
              <a:t>• Quantifying SPOF: Our survey includes agree/disagree statements to map network reliability concerns and data privacy barriers.</a:t>
            </a:r>
          </a:p>
          <a:p>
            <a:pPr>
              <a:spcAft>
                <a:spcPts val="600"/>
              </a:spcAft>
              <a:defRPr sz="950" b="0">
                <a:solidFill>
                  <a:srgbClr val="212121"/>
                </a:solidFill>
                <a:latin typeface="Arial"/>
              </a:defRPr>
            </a:pPr>
            <a:r>
              <a:t>• Uploading Cards: The generated card graphics (pictured right) help respondents visually compare price-to-benefit ratios.</a:t>
            </a:r>
          </a:p>
        </p:txBody>
      </p:sp>
      <p:pic>
        <p:nvPicPr>
          <p:cNvPr id="6" name="Picture 5" descr="choice_card_famil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8872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64592"/>
            <a:ext cx="6858000" cy="4114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defRPr sz="2400" b="1">
                <a:solidFill>
                  <a:srgbClr val="0F121C"/>
                </a:solidFill>
                <a:latin typeface="Calibri"/>
              </a:defRPr>
            </a:pPr>
            <a:r>
              <a:t>Phased Rollout: Foundation to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0"/>
            <a:ext cx="685800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850" b="0" i="1">
                <a:solidFill>
                  <a:srgbClr val="ED1D24"/>
                </a:solidFill>
                <a:latin typeface="Arial"/>
              </a:defRPr>
            </a:pPr>
            <a:r>
              <a:t>Sequencing milestones across an 18-month horizon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713232"/>
            <a:ext cx="4572000" cy="9144"/>
          </a:xfrm>
          <a:prstGeom prst="rect">
            <a:avLst/>
          </a:prstGeom>
          <a:solidFill>
            <a:srgbClr val="DC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438912"/>
            <a:ext cx="9144" cy="274320"/>
          </a:xfrm>
          <a:prstGeom prst="rect">
            <a:avLst/>
          </a:prstGeom>
          <a:solidFill>
            <a:srgbClr val="DC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09160" y="438912"/>
            <a:ext cx="9144" cy="274320"/>
          </a:xfrm>
          <a:prstGeom prst="rect">
            <a:avLst/>
          </a:prstGeom>
          <a:solidFill>
            <a:srgbClr val="DC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502920"/>
            <a:ext cx="228600" cy="9144"/>
          </a:xfrm>
          <a:prstGeom prst="rect">
            <a:avLst/>
          </a:prstGeom>
          <a:solidFill>
            <a:srgbClr val="DC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0" y="438912"/>
            <a:ext cx="9144" cy="274320"/>
          </a:xfrm>
          <a:prstGeom prst="rect">
            <a:avLst/>
          </a:prstGeom>
          <a:solidFill>
            <a:srgbClr val="DC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7880" y="438912"/>
            <a:ext cx="9144" cy="274320"/>
          </a:xfrm>
          <a:prstGeom prst="rect">
            <a:avLst/>
          </a:prstGeom>
          <a:solidFill>
            <a:srgbClr val="DC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0" y="502920"/>
            <a:ext cx="228600" cy="9144"/>
          </a:xfrm>
          <a:prstGeom prst="rect">
            <a:avLst/>
          </a:prstGeom>
          <a:solidFill>
            <a:srgbClr val="DC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0" y="438912"/>
            <a:ext cx="9144" cy="274320"/>
          </a:xfrm>
          <a:prstGeom prst="rect">
            <a:avLst/>
          </a:prstGeom>
          <a:solidFill>
            <a:srgbClr val="DC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438912"/>
            <a:ext cx="9144" cy="274320"/>
          </a:xfrm>
          <a:prstGeom prst="rect">
            <a:avLst/>
          </a:prstGeom>
          <a:solidFill>
            <a:srgbClr val="DC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03720" y="502920"/>
            <a:ext cx="228600" cy="9144"/>
          </a:xfrm>
          <a:prstGeom prst="rect">
            <a:avLst/>
          </a:prstGeom>
          <a:solidFill>
            <a:srgbClr val="DC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438912"/>
            <a:ext cx="9144" cy="274320"/>
          </a:xfrm>
          <a:prstGeom prst="rect">
            <a:avLst/>
          </a:prstGeom>
          <a:solidFill>
            <a:srgbClr val="DC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438912"/>
            <a:ext cx="9144" cy="274320"/>
          </a:xfrm>
          <a:prstGeom prst="rect">
            <a:avLst/>
          </a:prstGeom>
          <a:solidFill>
            <a:srgbClr val="DC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502920"/>
            <a:ext cx="228600" cy="9144"/>
          </a:xfrm>
          <a:prstGeom prst="rect">
            <a:avLst/>
          </a:prstGeom>
          <a:solidFill>
            <a:srgbClr val="DC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" y="3794760"/>
            <a:ext cx="8778240" cy="475488"/>
          </a:xfrm>
          <a:prstGeom prst="rect">
            <a:avLst/>
          </a:prstGeom>
          <a:solidFill>
            <a:srgbClr val="2D3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014216"/>
            <a:ext cx="320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" y="4014216"/>
            <a:ext cx="320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91056" y="4014216"/>
            <a:ext cx="320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49424" y="4014216"/>
            <a:ext cx="320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07791" y="4014216"/>
            <a:ext cx="320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66159" y="4014216"/>
            <a:ext cx="320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24528" y="4014216"/>
            <a:ext cx="320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82896" y="4014216"/>
            <a:ext cx="320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41264" y="4014216"/>
            <a:ext cx="320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9631" y="4014216"/>
            <a:ext cx="320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7999" y="4014216"/>
            <a:ext cx="320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16368" y="4014216"/>
            <a:ext cx="320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74736" y="4014216"/>
            <a:ext cx="320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82880" y="1234440"/>
            <a:ext cx="1298448" cy="1536192"/>
          </a:xfrm>
          <a:prstGeom prst="roundRect">
            <a:avLst/>
          </a:prstGeom>
          <a:solidFill>
            <a:srgbClr val="FEF3F3"/>
          </a:solidFill>
          <a:ln w="12700">
            <a:solidFill>
              <a:srgbClr val="FE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9456" y="1234440"/>
            <a:ext cx="1225296" cy="54864"/>
          </a:xfrm>
          <a:prstGeom prst="rect">
            <a:avLst/>
          </a:prstGeom>
          <a:solidFill>
            <a:srgbClr val="ED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758952" y="2761488"/>
            <a:ext cx="146304" cy="109728"/>
          </a:xfrm>
          <a:prstGeom prst="triangle">
            <a:avLst/>
          </a:prstGeom>
          <a:solidFill>
            <a:srgbClr val="FEF3F3"/>
          </a:solidFill>
          <a:ln w="12700">
            <a:solidFill>
              <a:srgbClr val="FE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" y="2862072"/>
            <a:ext cx="18288" cy="896112"/>
          </a:xfrm>
          <a:prstGeom prst="rect">
            <a:avLst/>
          </a:prstGeom>
          <a:solidFill>
            <a:srgbClr val="DC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86384" y="3749040"/>
            <a:ext cx="91440" cy="91440"/>
          </a:xfrm>
          <a:prstGeom prst="ellipse">
            <a:avLst/>
          </a:prstGeom>
          <a:solidFill>
            <a:srgbClr val="ED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7744" y="1344168"/>
            <a:ext cx="1188720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900" b="1">
                <a:solidFill>
                  <a:srgbClr val="ED1D24"/>
                </a:solidFill>
                <a:latin typeface="Calibri"/>
              </a:defRPr>
            </a:pPr>
            <a:r>
              <a:t>Foundation</a:t>
            </a:r>
          </a:p>
          <a:p>
            <a:pPr algn="ctr">
              <a:spcAft>
                <a:spcPts val="400"/>
              </a:spcAft>
              <a:defRPr sz="720" b="0">
                <a:solidFill>
                  <a:srgbClr val="212121"/>
                </a:solidFill>
                <a:latin typeface="Arial"/>
              </a:defRPr>
            </a:pPr>
            <a:r>
              <a:t>Launch savings calculator</a:t>
            </a:r>
          </a:p>
          <a:p>
            <a:pPr algn="ctr">
              <a:spcAft>
                <a:spcPts val="400"/>
              </a:spcAft>
              <a:defRPr sz="720" b="0">
                <a:solidFill>
                  <a:srgbClr val="212121"/>
                </a:solidFill>
                <a:latin typeface="Arial"/>
              </a:defRPr>
            </a:pPr>
            <a:r>
              <a:t>₹0-balance bank accounts</a:t>
            </a:r>
          </a:p>
          <a:p>
            <a:pPr algn="ctr">
              <a:spcAft>
                <a:spcPts val="400"/>
              </a:spcAft>
              <a:defRPr sz="720" b="0">
                <a:solidFill>
                  <a:srgbClr val="212121"/>
                </a:solidFill>
                <a:latin typeface="Arial"/>
              </a:defRPr>
            </a:pPr>
            <a:r>
              <a:t>Unified billing backend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664208" y="1234440"/>
            <a:ext cx="1298448" cy="1536192"/>
          </a:xfrm>
          <a:prstGeom prst="roundRect">
            <a:avLst/>
          </a:prstGeom>
          <a:solidFill>
            <a:srgbClr val="FEF3F3"/>
          </a:solidFill>
          <a:ln w="12700">
            <a:solidFill>
              <a:srgbClr val="FE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700784" y="1234440"/>
            <a:ext cx="1225296" cy="54864"/>
          </a:xfrm>
          <a:prstGeom prst="rect">
            <a:avLst/>
          </a:prstGeom>
          <a:solidFill>
            <a:srgbClr val="ED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 rot="10800000">
            <a:off x="2240280" y="2761488"/>
            <a:ext cx="146304" cy="109728"/>
          </a:xfrm>
          <a:prstGeom prst="triangle">
            <a:avLst/>
          </a:prstGeom>
          <a:solidFill>
            <a:srgbClr val="FEF3F3"/>
          </a:solidFill>
          <a:ln w="12700">
            <a:solidFill>
              <a:srgbClr val="FE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04288" y="2862072"/>
            <a:ext cx="18288" cy="896112"/>
          </a:xfrm>
          <a:prstGeom prst="rect">
            <a:avLst/>
          </a:prstGeom>
          <a:solidFill>
            <a:srgbClr val="DC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267712" y="3749040"/>
            <a:ext cx="91440" cy="91440"/>
          </a:xfrm>
          <a:prstGeom prst="ellipse">
            <a:avLst/>
          </a:prstGeom>
          <a:solidFill>
            <a:srgbClr val="ED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19072" y="1344168"/>
            <a:ext cx="1188720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900" b="1">
                <a:solidFill>
                  <a:srgbClr val="ED1D24"/>
                </a:solidFill>
                <a:latin typeface="Calibri"/>
              </a:defRPr>
            </a:pPr>
            <a:r>
              <a:t>Urban Launch</a:t>
            </a:r>
          </a:p>
          <a:p>
            <a:pPr algn="ctr">
              <a:spcAft>
                <a:spcPts val="400"/>
              </a:spcAft>
              <a:defRPr sz="720" b="0">
                <a:solidFill>
                  <a:srgbClr val="212121"/>
                </a:solidFill>
                <a:latin typeface="Arial"/>
              </a:defRPr>
            </a:pPr>
            <a:r>
              <a:t>Family bundle configurator</a:t>
            </a:r>
          </a:p>
          <a:p>
            <a:pPr algn="ctr">
              <a:spcAft>
                <a:spcPts val="400"/>
              </a:spcAft>
              <a:defRPr sz="720" b="0">
                <a:solidFill>
                  <a:srgbClr val="212121"/>
                </a:solidFill>
                <a:latin typeface="Arial"/>
              </a:defRPr>
            </a:pPr>
            <a:r>
              <a:t>"Live In Your Home" Ads</a:t>
            </a:r>
          </a:p>
          <a:p>
            <a:pPr algn="ctr">
              <a:spcAft>
                <a:spcPts val="400"/>
              </a:spcAft>
              <a:defRPr sz="720" b="0">
                <a:solidFill>
                  <a:srgbClr val="212121"/>
                </a:solidFill>
                <a:latin typeface="Arial"/>
              </a:defRPr>
            </a:pPr>
            <a:r>
              <a:t>AI scam cover rollout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145536" y="1234440"/>
            <a:ext cx="1298448" cy="1536192"/>
          </a:xfrm>
          <a:prstGeom prst="roundRect">
            <a:avLst/>
          </a:prstGeom>
          <a:solidFill>
            <a:srgbClr val="FEF3F3"/>
          </a:solidFill>
          <a:ln w="12700">
            <a:solidFill>
              <a:srgbClr val="FE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82112" y="1234440"/>
            <a:ext cx="1225296" cy="54864"/>
          </a:xfrm>
          <a:prstGeom prst="rect">
            <a:avLst/>
          </a:prstGeom>
          <a:solidFill>
            <a:srgbClr val="ED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 rot="10800000">
            <a:off x="3721608" y="2761488"/>
            <a:ext cx="146304" cy="109728"/>
          </a:xfrm>
          <a:prstGeom prst="triangle">
            <a:avLst/>
          </a:prstGeom>
          <a:solidFill>
            <a:srgbClr val="FEF3F3"/>
          </a:solidFill>
          <a:ln w="12700">
            <a:solidFill>
              <a:srgbClr val="FE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785616" y="2862072"/>
            <a:ext cx="18288" cy="896112"/>
          </a:xfrm>
          <a:prstGeom prst="rect">
            <a:avLst/>
          </a:prstGeom>
          <a:solidFill>
            <a:srgbClr val="DC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749040" y="3749040"/>
            <a:ext cx="91440" cy="91440"/>
          </a:xfrm>
          <a:prstGeom prst="ellipse">
            <a:avLst/>
          </a:prstGeom>
          <a:solidFill>
            <a:srgbClr val="ED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0" y="1344168"/>
            <a:ext cx="1188720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900" b="1">
                <a:solidFill>
                  <a:srgbClr val="ED1D24"/>
                </a:solidFill>
                <a:latin typeface="Calibri"/>
              </a:defRPr>
            </a:pPr>
            <a:r>
              <a:t>Rural GTM</a:t>
            </a:r>
          </a:p>
          <a:p>
            <a:pPr algn="ctr">
              <a:spcAft>
                <a:spcPts val="400"/>
              </a:spcAft>
              <a:defRPr sz="720" b="0">
                <a:solidFill>
                  <a:srgbClr val="212121"/>
                </a:solidFill>
                <a:latin typeface="Arial"/>
              </a:defRPr>
            </a:pPr>
            <a:r>
              <a:t>Wall painting and DTH ads</a:t>
            </a:r>
          </a:p>
          <a:p>
            <a:pPr algn="ctr">
              <a:spcAft>
                <a:spcPts val="400"/>
              </a:spcAft>
              <a:defRPr sz="720" b="0">
                <a:solidFill>
                  <a:srgbClr val="212121"/>
                </a:solidFill>
                <a:latin typeface="Arial"/>
              </a:defRPr>
            </a:pPr>
            <a:r>
              <a:t>Bundled SIM + bank access</a:t>
            </a:r>
          </a:p>
          <a:p>
            <a:pPr algn="ctr">
              <a:spcAft>
                <a:spcPts val="400"/>
              </a:spcAft>
              <a:defRPr sz="720" b="0">
                <a:solidFill>
                  <a:srgbClr val="212121"/>
                </a:solidFill>
                <a:latin typeface="Arial"/>
              </a:defRPr>
            </a:pPr>
            <a:r>
              <a:t>Local partner programme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26864" y="1234440"/>
            <a:ext cx="1298448" cy="1536192"/>
          </a:xfrm>
          <a:prstGeom prst="roundRect">
            <a:avLst/>
          </a:prstGeom>
          <a:solidFill>
            <a:srgbClr val="FEF3F3"/>
          </a:solidFill>
          <a:ln w="12700">
            <a:solidFill>
              <a:srgbClr val="FE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63440" y="1234440"/>
            <a:ext cx="1225296" cy="54864"/>
          </a:xfrm>
          <a:prstGeom prst="rect">
            <a:avLst/>
          </a:prstGeom>
          <a:solidFill>
            <a:srgbClr val="ED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 rot="10800000">
            <a:off x="5202936" y="2761488"/>
            <a:ext cx="146304" cy="109728"/>
          </a:xfrm>
          <a:prstGeom prst="triangle">
            <a:avLst/>
          </a:prstGeom>
          <a:solidFill>
            <a:srgbClr val="FEF3F3"/>
          </a:solidFill>
          <a:ln w="12700">
            <a:solidFill>
              <a:srgbClr val="FE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66944" y="2862072"/>
            <a:ext cx="18288" cy="896112"/>
          </a:xfrm>
          <a:prstGeom prst="rect">
            <a:avLst/>
          </a:prstGeom>
          <a:solidFill>
            <a:srgbClr val="DC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230368" y="3749040"/>
            <a:ext cx="91440" cy="91440"/>
          </a:xfrm>
          <a:prstGeom prst="ellipse">
            <a:avLst/>
          </a:prstGeom>
          <a:solidFill>
            <a:srgbClr val="ED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81728" y="1344168"/>
            <a:ext cx="1188720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900" b="1">
                <a:solidFill>
                  <a:srgbClr val="ED1D24"/>
                </a:solidFill>
                <a:latin typeface="Calibri"/>
              </a:defRPr>
            </a:pPr>
            <a:r>
              <a:t>AI Personalization</a:t>
            </a:r>
          </a:p>
          <a:p>
            <a:pPr algn="ctr">
              <a:spcAft>
                <a:spcPts val="400"/>
              </a:spcAft>
              <a:defRPr sz="720" b="0">
                <a:solidFill>
                  <a:srgbClr val="212121"/>
                </a:solidFill>
                <a:latin typeface="Arial"/>
              </a:defRPr>
            </a:pPr>
            <a:r>
              <a:t>Smart plan tool launch</a:t>
            </a:r>
          </a:p>
          <a:p>
            <a:pPr algn="ctr">
              <a:spcAft>
                <a:spcPts val="400"/>
              </a:spcAft>
              <a:defRPr sz="720" b="0">
                <a:solidFill>
                  <a:srgbClr val="212121"/>
                </a:solidFill>
                <a:latin typeface="Arial"/>
              </a:defRPr>
            </a:pPr>
            <a:r>
              <a:t>Usage alerts &amp; spend caps</a:t>
            </a:r>
          </a:p>
          <a:p>
            <a:pPr algn="ctr">
              <a:spcAft>
                <a:spcPts val="400"/>
              </a:spcAft>
              <a:defRPr sz="720" b="0">
                <a:solidFill>
                  <a:srgbClr val="212121"/>
                </a:solidFill>
                <a:latin typeface="Arial"/>
              </a:defRPr>
            </a:pPr>
            <a:r>
              <a:t>Postpaid conversion push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08192" y="1234440"/>
            <a:ext cx="1298448" cy="1536192"/>
          </a:xfrm>
          <a:prstGeom prst="roundRect">
            <a:avLst/>
          </a:prstGeom>
          <a:solidFill>
            <a:srgbClr val="FEF3F3"/>
          </a:solidFill>
          <a:ln w="12700">
            <a:solidFill>
              <a:srgbClr val="FE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144768" y="1234440"/>
            <a:ext cx="1225296" cy="54864"/>
          </a:xfrm>
          <a:prstGeom prst="rect">
            <a:avLst/>
          </a:prstGeom>
          <a:solidFill>
            <a:srgbClr val="ED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Isosceles Triangle 58"/>
          <p:cNvSpPr/>
          <p:nvPr/>
        </p:nvSpPr>
        <p:spPr>
          <a:xfrm rot="10800000">
            <a:off x="6684264" y="2761488"/>
            <a:ext cx="146304" cy="109728"/>
          </a:xfrm>
          <a:prstGeom prst="triangle">
            <a:avLst/>
          </a:prstGeom>
          <a:solidFill>
            <a:srgbClr val="FEF3F3"/>
          </a:solidFill>
          <a:ln w="12700">
            <a:solidFill>
              <a:srgbClr val="FE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748272" y="2862072"/>
            <a:ext cx="18288" cy="896112"/>
          </a:xfrm>
          <a:prstGeom prst="rect">
            <a:avLst/>
          </a:prstGeom>
          <a:solidFill>
            <a:srgbClr val="DC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11696" y="3749040"/>
            <a:ext cx="91440" cy="91440"/>
          </a:xfrm>
          <a:prstGeom prst="ellipse">
            <a:avLst/>
          </a:prstGeom>
          <a:solidFill>
            <a:srgbClr val="ED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63056" y="1344168"/>
            <a:ext cx="1188720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900" b="1">
                <a:solidFill>
                  <a:srgbClr val="ED1D24"/>
                </a:solidFill>
                <a:latin typeface="Calibri"/>
              </a:defRPr>
            </a:pPr>
            <a:r>
              <a:t>Cross-sell Scale</a:t>
            </a:r>
          </a:p>
          <a:p>
            <a:pPr algn="ctr">
              <a:spcAft>
                <a:spcPts val="400"/>
              </a:spcAft>
              <a:defRPr sz="720" b="0">
                <a:solidFill>
                  <a:srgbClr val="212121"/>
                </a:solidFill>
                <a:latin typeface="Arial"/>
              </a:defRPr>
            </a:pPr>
            <a:r>
              <a:t>Household bundle push</a:t>
            </a:r>
          </a:p>
          <a:p>
            <a:pPr algn="ctr">
              <a:spcAft>
                <a:spcPts val="400"/>
              </a:spcAft>
              <a:defRPr sz="720" b="0">
                <a:solidFill>
                  <a:srgbClr val="212121"/>
                </a:solidFill>
                <a:latin typeface="Arial"/>
              </a:defRPr>
            </a:pPr>
            <a:r>
              <a:t>Auto-pay discount active</a:t>
            </a:r>
          </a:p>
          <a:p>
            <a:pPr algn="ctr">
              <a:spcAft>
                <a:spcPts val="400"/>
              </a:spcAft>
              <a:defRPr sz="720" b="0">
                <a:solidFill>
                  <a:srgbClr val="212121"/>
                </a:solidFill>
                <a:latin typeface="Arial"/>
              </a:defRPr>
            </a:pPr>
            <a:r>
              <a:t>Device EMI financing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589520" y="1234440"/>
            <a:ext cx="1298448" cy="1536192"/>
          </a:xfrm>
          <a:prstGeom prst="roundRect">
            <a:avLst/>
          </a:prstGeom>
          <a:solidFill>
            <a:srgbClr val="FEF3F3"/>
          </a:solidFill>
          <a:ln w="12700">
            <a:solidFill>
              <a:srgbClr val="FE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26096" y="1234440"/>
            <a:ext cx="1225296" cy="54864"/>
          </a:xfrm>
          <a:prstGeom prst="rect">
            <a:avLst/>
          </a:prstGeom>
          <a:solidFill>
            <a:srgbClr val="ED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Isosceles Triangle 64"/>
          <p:cNvSpPr/>
          <p:nvPr/>
        </p:nvSpPr>
        <p:spPr>
          <a:xfrm rot="10800000">
            <a:off x="8165592" y="2761488"/>
            <a:ext cx="146304" cy="109728"/>
          </a:xfrm>
          <a:prstGeom prst="triangle">
            <a:avLst/>
          </a:prstGeom>
          <a:solidFill>
            <a:srgbClr val="FEF3F3"/>
          </a:solidFill>
          <a:ln w="12700">
            <a:solidFill>
              <a:srgbClr val="FE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29600" y="2862072"/>
            <a:ext cx="18288" cy="896112"/>
          </a:xfrm>
          <a:prstGeom prst="rect">
            <a:avLst/>
          </a:prstGeom>
          <a:solidFill>
            <a:srgbClr val="DCD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193024" y="3749040"/>
            <a:ext cx="91440" cy="91440"/>
          </a:xfrm>
          <a:prstGeom prst="ellipse">
            <a:avLst/>
          </a:prstGeom>
          <a:solidFill>
            <a:srgbClr val="ED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44384" y="1344168"/>
            <a:ext cx="1188720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900" b="1">
                <a:solidFill>
                  <a:srgbClr val="ED1D24"/>
                </a:solidFill>
                <a:latin typeface="Calibri"/>
              </a:defRPr>
            </a:pPr>
            <a:r>
              <a:t>Banking Transition</a:t>
            </a:r>
          </a:p>
          <a:p>
            <a:pPr algn="ctr">
              <a:spcAft>
                <a:spcPts val="400"/>
              </a:spcAft>
              <a:defRPr sz="720" b="0">
                <a:solidFill>
                  <a:srgbClr val="212121"/>
                </a:solidFill>
                <a:latin typeface="Arial"/>
              </a:defRPr>
            </a:pPr>
            <a:r>
              <a:t>Next Banking License</a:t>
            </a:r>
          </a:p>
          <a:p>
            <a:pPr algn="ctr">
              <a:spcAft>
                <a:spcPts val="400"/>
              </a:spcAft>
              <a:defRPr sz="720" b="0">
                <a:solidFill>
                  <a:srgbClr val="212121"/>
                </a:solidFill>
                <a:latin typeface="Arial"/>
              </a:defRPr>
            </a:pPr>
            <a:r>
              <a:t>Micro-credit &amp; rural loans</a:t>
            </a:r>
          </a:p>
          <a:p>
            <a:pPr algn="ctr">
              <a:spcAft>
                <a:spcPts val="400"/>
              </a:spcAft>
              <a:defRPr sz="720" b="0">
                <a:solidFill>
                  <a:srgbClr val="212121"/>
                </a:solidFill>
                <a:latin typeface="Arial"/>
              </a:defRPr>
            </a:pPr>
            <a:r>
              <a:t>Super app as interface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1222</Words>
  <Application>Microsoft Macintosh PowerPoint</Application>
  <PresentationFormat>On-screen Show (16:9)</PresentationFormat>
  <Paragraphs>53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NIKET PARIKH</cp:lastModifiedBy>
  <cp:revision>2</cp:revision>
  <dcterms:modified xsi:type="dcterms:W3CDTF">2026-07-18T12:38:04Z</dcterms:modified>
</cp:coreProperties>
</file>