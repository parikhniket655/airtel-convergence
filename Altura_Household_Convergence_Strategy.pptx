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0" r:id="rId5"/>
    <p:sldId id="261" r:id="rId6"/>
    <p:sldId id="262" r:id="rId7"/>
    <p:sldId id="263" r:id="rId8"/>
    <p:sldId id="264" r:id="rId14"/>
    <p:sldId id="265" r:id="rId15"/>
    <p:sldId id="266" r:id="rId16"/>
    <p:sldId id="267" r:id="rId17"/>
    <p:sldId id="268" r:id="rId18"/>
    <p:sldId id="269" r:id="rId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71"/>
  </p:normalViewPr>
  <p:slideViewPr>
    <p:cSldViewPr snapToGrid="0">
      <p:cViewPr varScale="1">
        <p:scale>
          <a:sx n="139" d="100"/>
          <a:sy n="139" d="100"/>
        </p:scale>
        <p:origin x="864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2dfdaf51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f2dfdaf51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Submission Template-0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2025" y="-11025"/>
            <a:ext cx="9176376" cy="5154524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TextBox 54"/>
          <p:cNvSpPr txBox="1"/>
          <p:nvPr/>
        </p:nvSpPr>
        <p:spPr>
          <a:xfrm>
            <a:off x="731520" y="1463040"/>
            <a:ext cx="7680960" cy="13716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400"/>
              </a:spcAft>
              <a:defRPr sz="3200" b="1">
                <a:solidFill>
                  <a:srgbClr val="ED1D24"/>
                </a:solidFill>
                <a:latin typeface="Calibri"/>
              </a:defRPr>
            </a:pPr>
            <a:r>
              <a:t>ALTURA COMMUNICATIONS</a:t>
            </a:r>
          </a:p>
          <a:p>
            <a:pPr>
              <a:defRPr sz="2400" b="1">
                <a:solidFill>
                  <a:srgbClr val="0F121C"/>
                </a:solidFill>
                <a:latin typeface="Calibri"/>
              </a:defRPr>
            </a:pPr>
            <a:r>
              <a:t>Connected Household Convergence Strategy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200" b="0">
                <a:solidFill>
                  <a:srgbClr val="212121"/>
                </a:solidFill>
                <a:latin typeface="Arial"/>
              </a:defRPr>
            </a:pPr>
            <a:r>
              <a:t>Maximizing Share of Wallet through Inbound Digital Platforms, Habit-Forming Bundle Pricing, Google One Storage, Autopay Incentives, and AI/ML Targeting.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3931920"/>
            <a:ext cx="7680960" cy="731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sz="1000" b="1">
                <a:solidFill>
                  <a:srgbClr val="0F121C"/>
                </a:solidFill>
                <a:latin typeface="Arial"/>
              </a:defRPr>
            </a:pPr>
            <a:r>
              <a:t>Case Competition Submission | 2026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Submission Template-02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TextBox 59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Altura Communications: Strategic Diagnosis &amp; Market Analysis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1005840"/>
            <a:ext cx="246888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4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1. Wallet Opportunity &amp; Moat</a:t>
            </a:r>
          </a:p>
          <a:p>
            <a:pPr>
              <a:defRPr sz="3200" b="1">
                <a:solidFill>
                  <a:srgbClr val="ED1D24"/>
                </a:solidFill>
                <a:latin typeface="Calibri"/>
              </a:defRPr>
            </a:pPr>
            <a:r>
              <a:t>₹18,000</a:t>
            </a:r>
          </a:p>
          <a:p>
            <a:pPr>
              <a:spcAft>
                <a:spcPts val="800"/>
              </a:spcAft>
              <a:defRPr sz="850" b="1">
                <a:solidFill>
                  <a:srgbClr val="3498DB"/>
                </a:solidFill>
                <a:latin typeface="Arial"/>
              </a:defRPr>
            </a:pPr>
            <a:r>
              <a:t>Annual Wallet Opportunity per Home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Value White Spaces: Connectivity accounts for 35% of household spend, but adjacent services like Entertainment (12%) and Security (2%) represent massive white spaces (Exhibit 3).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Churn Moat: Moving a customer from 1 product to 3+ services drops annual churn from 22% to 5% (Exhibit 4).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Postpaid Lift: Postpaid SIMs deliver ₹100 higher ARPU and 50% stronger customer stickiness than prepaid, yet silos block migrations.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1005840"/>
            <a:ext cx="2377440" cy="7315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291840" y="1005840"/>
            <a:ext cx="246888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4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2. Landscape &amp; Persona Triggers</a:t>
            </a:r>
          </a:p>
          <a:p>
            <a:pPr>
              <a:defRPr sz="3200" b="1">
                <a:solidFill>
                  <a:srgbClr val="0F121C"/>
                </a:solidFill>
                <a:latin typeface="Calibri"/>
              </a:defRPr>
            </a:pPr>
            <a:r>
              <a:t>60%+</a:t>
            </a:r>
          </a:p>
          <a:p>
            <a:pPr>
              <a:spcAft>
                <a:spcPts val="800"/>
              </a:spcAft>
              <a:defRPr sz="850" b="1">
                <a:solidFill>
                  <a:srgbClr val="3498DB"/>
                </a:solidFill>
                <a:latin typeface="Arial"/>
              </a:defRPr>
            </a:pPr>
            <a:r>
              <a:t>Households Fear Single Point of Failure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Prepaid Saturation: Prepaid mobile markets are mature with high penetration and constrained pricing power. Growth must rely on adjacencies.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Cord-Cutting: DTH television revenues are shrinking globally due to cord-cutting pressures (Exhibit 1 &amp; 2).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Persona Triggers: High-value households value unified billing and reward points. Core motivators include automated convenience and brand security trust.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337560" y="1005840"/>
            <a:ext cx="2377440" cy="73152"/>
          </a:xfrm>
          <a:prstGeom prst="rect">
            <a:avLst/>
          </a:prstGeom>
          <a:solidFill>
            <a:srgbClr val="0F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126480" y="1005840"/>
            <a:ext cx="246888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4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3. Core Strategic Problems</a:t>
            </a:r>
          </a:p>
          <a:p>
            <a:pPr>
              <a:defRPr sz="3200" b="1">
                <a:solidFill>
                  <a:srgbClr val="3498DB"/>
                </a:solidFill>
                <a:latin typeface="Calibri"/>
              </a:defRPr>
            </a:pPr>
            <a:r>
              <a:t>12%</a:t>
            </a:r>
          </a:p>
          <a:p>
            <a:pPr>
              <a:spcAft>
                <a:spcPts val="800"/>
              </a:spcAft>
              <a:defRPr sz="850" b="1">
                <a:solidFill>
                  <a:srgbClr val="3498DB"/>
                </a:solidFill>
                <a:latin typeface="Arial"/>
              </a:defRPr>
            </a:pPr>
            <a:r>
              <a:t>Lowest Month-4 Customer Decay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Infrastructure Dread: Households fear putting mobile and fiber under one operator due to worry over complete connectivity blackout during fiber cuts.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Setup Friction: Customers dread porting numbers and coordinating multiple technician visits.</a:t>
            </a:r>
          </a:p>
          <a:p>
            <a:pPr>
              <a:spcAft>
                <a:spcPts val="400"/>
              </a:spcAft>
              <a:defRPr sz="850" b="0">
                <a:solidFill>
                  <a:srgbClr val="212121"/>
                </a:solidFill>
                <a:latin typeface="Arial"/>
              </a:defRPr>
            </a:pPr>
            <a:r>
              <a:t>• Channel Silos: Sales and field forces work in independent silos, missing cross-sell during low-decay in-home technician visits.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72200" y="1005840"/>
            <a:ext cx="2377440" cy="73152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4150" y="579597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Arial"/>
              </a:defRPr>
            </a:pPr>
            <a:r>
              <a:rPr dirty="0"/>
              <a:t>Annexure 1: Primary Research &amp; Conjoint Choice Cards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21C"/>
                </a:solidFill>
                <a:latin typeface="Arial"/>
              </a:defRPr>
            </a:pPr>
            <a:r>
              <a:t>Research Methodology &amp; Conjoint Analysis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Conjoint Setup: We deployed 4 binary choice questions directly comparing individual utilities vs. their bundled Altura Home counterparts (Choice Card Starter, Connect, Family Secure, and Infinite).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Goal: This Discrete Choice Conjoint Experiment isolates exactly where price sensitivity breaks and maps household utility values.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Quantifying SPOF: Our survey includes agree/disagree statements to map network reliability concerns and data privacy barriers.</a:t>
            </a:r>
          </a:p>
          <a:p>
            <a:pPr>
              <a:spcAft>
                <a:spcPts val="600"/>
              </a:spcAft>
              <a:defRPr sz="950" b="0">
                <a:solidFill>
                  <a:srgbClr val="212121"/>
                </a:solidFill>
                <a:latin typeface="Arial"/>
              </a:defRPr>
            </a:pPr>
            <a:r>
              <a:t>• Uploading Cards: The generated card graphics (pictured right) help respondents visually compare price-to-benefit ratios.</a:t>
            </a:r>
          </a:p>
        </p:txBody>
      </p:sp>
      <p:pic>
        <p:nvPicPr>
          <p:cNvPr id="6" name="Picture 5" descr="choice_card_fam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6" name="Picture 5" descr="bundle_choice_c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Annexure 1: Primary Research &amp; Conjoint Choice Cards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005840"/>
            <a:ext cx="384048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Research Methodology &amp; Conjoint Analysis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Conjoint Setup: We deployed 4 binary choice questions directly comparing individual utilities vs. their bundled Altura Home counterparts (Choice Card Starter, Connect, Family Secure, and Infinite).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Goal: This Discrete Choice Conjoint Experiment isolates exactly where price sensitivity breaks and maps household utility values.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Quantifying SPOF: Our survey includes agree/disagree statements to map network reliability concerns and data privacy barriers.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Uploading Cards: The generated card graphics (pictured right) help respondents visually compare price-to-benefit ratios.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005840"/>
            <a:ext cx="3749040" cy="73152"/>
          </a:xfrm>
          <a:prstGeom prst="rect">
            <a:avLst/>
          </a:prstGeom>
          <a:solidFill>
            <a:srgbClr val="0F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Annexure 2: Inbound Customer Portal &amp; Choice Matrices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384048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Digitizing the Onboarding Funnel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Website Re-architecting: Designed a premium tab-based structure instead of long scroll sheets, streamlining categories for different household priorities.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AirBot Integration: AirBot acts as a frictionless digital concierge. It replaces standard sales pitch dialogue with multi-select service checklists and contextual profiling.</a:t>
            </a:r>
          </a:p>
          <a:p>
            <a:pPr>
              <a:spcAft>
                <a:spcPts val="500"/>
              </a:spcAft>
              <a:defRPr sz="880" b="0">
                <a:solidFill>
                  <a:srgbClr val="212121"/>
                </a:solidFill>
                <a:latin typeface="Arial"/>
              </a:defRPr>
            </a:pPr>
            <a:r>
              <a:t>• Autopay &amp; Coin Loops: The online checkout dynamically demonstrates monthly savings (₹50 discount) and Thanks Coins loyalty accumulation to increase signup rates.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3749040" cy="73152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Annexure 3: Data-Driven Target Cohorts &amp; Economics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822960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AI-Targeted Cross-Sell Opportunities (Exhibits 4 &amp; 5)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Cohort A: High-Intent Overlaps (2.5M Users): Target the 2.5 million households subscribing to both Broadband and DTH. Since they are already double-billed, they represent low-hanging fruit for the 'Connect' or 'Family Secure' bundles.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Cohort B: DTH-Only Accounts (16M Users): DTH is expected to decline due to streaming (Exhibit 2). Transitioning these 16 million siloed accounts into converged Fiber+SIM+TV bundles saves them money while preventing DTH cord-cutting.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Channel Optimization: Digital channel CAC is 50% lower than direct sales (Broadband: ₹220 vs ₹450), but direct sales secure higher Month-4 retention. We route online AirBot leads directly to concierge field technicians to optimize conversion.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8138160" cy="73152"/>
          </a:xfrm>
          <a:prstGeom prst="rect">
            <a:avLst/>
          </a:prstGeom>
          <a:solidFill>
            <a:srgbClr val="0F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6" name="Picture 5" descr="screenshot_air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05840"/>
            <a:ext cx="1005840" cy="1097280"/>
          </a:xfrm>
          <a:prstGeom prst="rect">
            <a:avLst/>
          </a:prstGeom>
        </p:spPr>
      </p:pic>
      <p:pic>
        <p:nvPicPr>
          <p:cNvPr id="8" name="Picture 7" descr="screenshot_pack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286000"/>
            <a:ext cx="1828800" cy="1033271"/>
          </a:xfrm>
          <a:prstGeom prst="rect">
            <a:avLst/>
          </a:prstGeom>
        </p:spPr>
      </p:pic>
      <p:pic>
        <p:nvPicPr>
          <p:cNvPr id="10" name="Picture 9" descr="screenshot_customiz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3474720"/>
            <a:ext cx="1828800" cy="103327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182880"/>
            <a:ext cx="8229600" cy="731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100" b="1">
                <a:solidFill>
                  <a:srgbClr val="ED1D24"/>
                </a:solidFill>
                <a:latin typeface="Calibri"/>
              </a:defRPr>
            </a:pPr>
            <a:r>
              <a:t>Annexure 4: Bundle Pricing Model &amp; EBITDA Accretion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005840"/>
            <a:ext cx="8229600" cy="365760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E4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164592" bIns="137160"/>
          <a:lstStyle/>
          <a:p>
            <a:pPr algn="ctr">
              <a:spcAft>
                <a:spcPts val="800"/>
              </a:spcAft>
              <a:defRPr sz="1300" b="1">
                <a:solidFill>
                  <a:srgbClr val="0F121C"/>
                </a:solidFill>
                <a:latin typeface="Calibri"/>
              </a:defRPr>
            </a:pPr>
            <a:r>
              <a:t>Converged Pricing Sheets &amp; EBITDA Margins (Exhibits 1 &amp; 2)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Individual vs. Bundle Price Matrix: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   - Standalone Sum: Broadband (₹599) + 2 SIMs (₹700) + Xstream Box (₹250) + Google One (₹209) + Xsafe CCTV (₹150) + Bank (₹99) = ₹2,006/mo.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   - Consolidated Family Secure: ₹1,499/mo (Saves ₹507/mo or 25% discount). Promoted at ₹999/mo for the first 3 months to destroy switching inertia.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Margin Protection: Home Surveillance holds the highest EBITDA margin at 35% (Exhibit 1) and is growing at 35.7% CAGR (Exhibit 2). By bundling Xsafe cameras into Family Secure and Infinite tiers, we offset lower TV margins (12% EBITDA) and drive net margin expansion.</a:t>
            </a:r>
          </a:p>
          <a:p>
            <a:pPr>
              <a:spcAft>
                <a:spcPts val="600"/>
              </a:spcAft>
              <a:defRPr sz="900" b="0">
                <a:solidFill>
                  <a:srgbClr val="212121"/>
                </a:solidFill>
                <a:latin typeface="Arial"/>
              </a:defRPr>
            </a:pPr>
            <a:r>
              <a:t>• Churn Leverage: Reducing household churn from 22% down to 5% lifts customer lifetime value (LTV) by over 400%, easily amortizing the initial ₹999/mo introductory launch promo cost.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005840"/>
            <a:ext cx="8138160" cy="73152"/>
          </a:xfrm>
          <a:prstGeom prst="rect">
            <a:avLst/>
          </a:prstGeom>
          <a:solidFill>
            <a:srgbClr val="ED1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88720"/>
            <a:ext cx="41148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05840"/>
            <a:ext cx="1005840" cy="1097280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286000"/>
            <a:ext cx="1828800" cy="1033271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3474720"/>
            <a:ext cx="1828800" cy="1033271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9144000" cy="5143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005840"/>
            <a:ext cx="1005840" cy="1097280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2286000"/>
            <a:ext cx="1828800" cy="1033271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3474720"/>
            <a:ext cx="1828800" cy="1033271"/>
          </a:xfrm>
          <a:prstGeom prst="rect">
            <a:avLst/>
          </a:prstGeom>
          <a:ln w="12700">
            <a:solidFill>
              <a:srgbClr val="E4E6EB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1222</Words>
  <Application>Microsoft Macintosh PowerPoint</Application>
  <PresentationFormat>On-screen Show (16:9)</PresentationFormat>
  <Paragraphs>53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NIKET PARIKH</cp:lastModifiedBy>
  <cp:revision>2</cp:revision>
  <dcterms:modified xsi:type="dcterms:W3CDTF">2026-07-18T12:38:04Z</dcterms:modified>
</cp:coreProperties>
</file>